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MEDE · CP1 · </a:t>
            </a:r>
            <a:r>
              <a:rPr lang="en-US" sz="900" kern="0" spc="200" dirty="0" err="1">
                <a:solidFill>
                  <a:srgbClr val="C8702A"/>
                </a:solidFill>
              </a:rPr>
              <a:t>Fisa</a:t>
            </a:r>
            <a:r>
              <a:rPr lang="en-US" sz="900" kern="0" spc="200" dirty="0">
                <a:solidFill>
                  <a:srgbClr val="C8702A"/>
                </a:solidFill>
              </a:rPr>
              <a:t> de concept · </a:t>
            </a:r>
            <a:r>
              <a:rPr lang="en-US" sz="900" kern="0" spc="200">
                <a:solidFill>
                  <a:srgbClr val="C8702A"/>
                </a:solidFill>
              </a:rPr>
              <a:t>SĂPTĂMÂNA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Stanciu Răducu-Ștefan · U13. </a:t>
            </a:r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Celula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Urbana · </a:t>
            </a:r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Fenomenul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Insula de </a:t>
            </a:r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caldura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forma </a:t>
            </a:r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Întrebarea mea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/>
              <a:t>Q13.4 </a:t>
            </a:r>
            <a:r>
              <a:rPr lang="en-US" sz="1100" dirty="0" err="1"/>
              <a:t>Bucureștiul</a:t>
            </a:r>
            <a:r>
              <a:rPr lang="en-US" sz="1100" dirty="0"/>
              <a:t> </a:t>
            </a:r>
            <a:r>
              <a:rPr lang="en-US" sz="1100" dirty="0" err="1"/>
              <a:t>seamănă</a:t>
            </a:r>
            <a:r>
              <a:rPr lang="en-US" sz="1100" dirty="0"/>
              <a:t> cu alt </a:t>
            </a:r>
            <a:r>
              <a:rPr lang="en-US" sz="1100" dirty="0" err="1"/>
              <a:t>oraș</a:t>
            </a:r>
            <a:r>
              <a:rPr lang="en-US" sz="1100" dirty="0"/>
              <a:t>  ca </a:t>
            </a:r>
            <a:r>
              <a:rPr lang="en-US" sz="1100" dirty="0" err="1"/>
              <a:t>structură</a:t>
            </a:r>
            <a:r>
              <a:rPr lang="en-US" sz="1100" dirty="0"/>
              <a:t> </a:t>
            </a:r>
            <a:r>
              <a:rPr lang="en-US" sz="1100" dirty="0" err="1"/>
              <a:t>termică</a:t>
            </a:r>
            <a:r>
              <a:rPr lang="en-US" sz="1100" dirty="0"/>
              <a:t>?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2575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 err="1">
                <a:solidFill>
                  <a:srgbClr val="1B2A41"/>
                </a:solidFill>
              </a:rPr>
              <a:t>Unitatea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și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sursele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chemeClr val="tx2"/>
                </a:solidFill>
              </a:rPr>
              <a:t>Grid </a:t>
            </a:r>
            <a:r>
              <a:rPr lang="en-US" sz="1050" dirty="0" err="1">
                <a:solidFill>
                  <a:schemeClr val="tx2"/>
                </a:solidFill>
              </a:rPr>
              <a:t>regulat</a:t>
            </a:r>
            <a:r>
              <a:rPr lang="en-US" sz="1050" dirty="0">
                <a:solidFill>
                  <a:schemeClr val="tx2"/>
                </a:solidFill>
              </a:rPr>
              <a:t> de 250mx250m → Landsat 8/9 Collection 2 Level-2 + Sentinel-2 Level-2A (via Google Earth Engine) + Copernicus GHSL-BUILT-UP  + </a:t>
            </a:r>
            <a:r>
              <a:rPr lang="en-US" sz="1050" dirty="0" err="1">
                <a:solidFill>
                  <a:schemeClr val="tx2"/>
                </a:solidFill>
              </a:rPr>
              <a:t>WorldPop</a:t>
            </a:r>
            <a:r>
              <a:rPr lang="en-US" sz="1050" dirty="0">
                <a:solidFill>
                  <a:schemeClr val="tx2"/>
                </a:solidFill>
              </a:rPr>
              <a:t>,  </a:t>
            </a:r>
            <a:r>
              <a:rPr lang="en-US" sz="1100" dirty="0" err="1">
                <a:solidFill>
                  <a:schemeClr val="tx2"/>
                </a:solidFill>
              </a:rPr>
              <a:t>Compozit</a:t>
            </a:r>
            <a:r>
              <a:rPr lang="en-US" sz="1100" dirty="0">
                <a:solidFill>
                  <a:schemeClr val="tx2"/>
                </a:solidFill>
              </a:rPr>
              <a:t> </a:t>
            </a:r>
            <a:r>
              <a:rPr lang="en-US" sz="1100" dirty="0" err="1">
                <a:solidFill>
                  <a:schemeClr val="tx2"/>
                </a:solidFill>
              </a:rPr>
              <a:t>sezonier</a:t>
            </a:r>
            <a:r>
              <a:rPr lang="en-US" sz="1100" dirty="0">
                <a:solidFill>
                  <a:schemeClr val="tx2"/>
                </a:solidFill>
              </a:rPr>
              <a:t> de </a:t>
            </a:r>
            <a:r>
              <a:rPr lang="en-US" sz="1100" dirty="0" err="1">
                <a:solidFill>
                  <a:schemeClr val="tx2"/>
                </a:solidFill>
              </a:rPr>
              <a:t>vară</a:t>
            </a:r>
            <a:r>
              <a:rPr lang="en-US" sz="1100" dirty="0">
                <a:solidFill>
                  <a:schemeClr val="tx2"/>
                </a:solidFill>
              </a:rPr>
              <a:t> (</a:t>
            </a:r>
            <a:r>
              <a:rPr lang="en-US" sz="1100" dirty="0" err="1">
                <a:solidFill>
                  <a:schemeClr val="tx2"/>
                </a:solidFill>
              </a:rPr>
              <a:t>Iunie</a:t>
            </a:r>
            <a:r>
              <a:rPr lang="en-US" sz="1100" dirty="0">
                <a:solidFill>
                  <a:schemeClr val="tx2"/>
                </a:solidFill>
              </a:rPr>
              <a:t> – August)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Cui îi folosește răspunsul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 err="1">
                <a:solidFill>
                  <a:srgbClr val="6B7684"/>
                </a:solidFill>
              </a:rPr>
              <a:t>Raspunsul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intrebarii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este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folositor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pentru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primarii</a:t>
            </a:r>
            <a:r>
              <a:rPr lang="en-US" sz="1050" dirty="0">
                <a:solidFill>
                  <a:srgbClr val="6B7684"/>
                </a:solidFill>
              </a:rPr>
              <a:t>, </a:t>
            </a:r>
            <a:r>
              <a:rPr lang="en-US" sz="1050" dirty="0" err="1">
                <a:solidFill>
                  <a:srgbClr val="6B7684"/>
                </a:solidFill>
              </a:rPr>
              <a:t>finantatori</a:t>
            </a:r>
            <a:r>
              <a:rPr lang="en-US" sz="1050" dirty="0">
                <a:solidFill>
                  <a:srgbClr val="6B7684"/>
                </a:solidFill>
              </a:rPr>
              <a:t>, </a:t>
            </a:r>
            <a:r>
              <a:rPr lang="en-US" sz="1050" dirty="0" err="1">
                <a:solidFill>
                  <a:srgbClr val="6B7684"/>
                </a:solidFill>
              </a:rPr>
              <a:t>dar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si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pentru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cercetatori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climatici</a:t>
            </a:r>
            <a:r>
              <a:rPr lang="en-US" sz="1050" dirty="0">
                <a:solidFill>
                  <a:srgbClr val="6B7684"/>
                </a:solidFill>
              </a:rPr>
              <a:t>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 txBox="1"/>
          <p:nvPr/>
        </p:nvSpPr>
        <p:spPr>
          <a:xfrm>
            <a:off x="4805918" y="169164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</a:rPr>
              <a:t>Unde am ajuns</a:t>
            </a:r>
            <a:endParaRPr lang="en-US" sz="1100" dirty="0">
              <a:solidFill>
                <a:schemeClr val="accent3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chemeClr val="accent3"/>
                </a:solidFill>
              </a:rPr>
              <a:t>Etapa </a:t>
            </a:r>
            <a:r>
              <a:rPr lang="en-US" sz="1100" dirty="0" err="1">
                <a:solidFill>
                  <a:schemeClr val="accent3"/>
                </a:solidFill>
              </a:rPr>
              <a:t>curentă</a:t>
            </a:r>
            <a:r>
              <a:rPr lang="en-US" sz="1100" dirty="0">
                <a:solidFill>
                  <a:schemeClr val="accent3"/>
                </a:solidFill>
              </a:rPr>
              <a:t>: </a:t>
            </a:r>
            <a:r>
              <a:rPr lang="en-US" sz="1100" dirty="0" err="1">
                <a:solidFill>
                  <a:schemeClr val="accent3"/>
                </a:solidFill>
              </a:rPr>
              <a:t>alinierea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spatiala</a:t>
            </a:r>
            <a:r>
              <a:rPr lang="en-US" sz="1100" dirty="0">
                <a:solidFill>
                  <a:schemeClr val="accent3"/>
                </a:solidFill>
              </a:rPr>
              <a:t>, </a:t>
            </a:r>
            <a:r>
              <a:rPr lang="en-US" sz="1100" dirty="0" err="1">
                <a:solidFill>
                  <a:schemeClr val="accent3"/>
                </a:solidFill>
              </a:rPr>
              <a:t>temporala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si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semantica</a:t>
            </a:r>
            <a:r>
              <a:rPr lang="en-US" sz="1100" dirty="0">
                <a:solidFill>
                  <a:schemeClr val="accent3"/>
                </a:solidFill>
              </a:rPr>
              <a:t> a </a:t>
            </a:r>
            <a:r>
              <a:rPr lang="en-US" sz="1100" dirty="0" err="1">
                <a:solidFill>
                  <a:schemeClr val="accent3"/>
                </a:solidFill>
              </a:rPr>
              <a:t>datelor</a:t>
            </a:r>
            <a:r>
              <a:rPr lang="en-US" sz="1100" dirty="0">
                <a:solidFill>
                  <a:schemeClr val="accent3"/>
                </a:solidFill>
              </a:rPr>
              <a:t>, data card </a:t>
            </a:r>
            <a:r>
              <a:rPr lang="en-US" sz="1100" dirty="0" err="1">
                <a:solidFill>
                  <a:schemeClr val="accent3"/>
                </a:solidFill>
              </a:rPr>
              <a:t>si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tabel</a:t>
            </a:r>
            <a:r>
              <a:rPr lang="en-US" sz="1100" dirty="0">
                <a:solidFill>
                  <a:schemeClr val="accent3"/>
                </a:solidFill>
              </a:rPr>
              <a:t> SOA </a:t>
            </a:r>
          </a:p>
          <a:p>
            <a:pPr>
              <a:spcAft>
                <a:spcPts val="500"/>
              </a:spcAft>
            </a:pPr>
            <a:endParaRPr lang="en-US" sz="1100" dirty="0">
              <a:solidFill>
                <a:schemeClr val="accent3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Făcut</a:t>
            </a:r>
            <a:r>
              <a:rPr lang="en-US" sz="1100" dirty="0">
                <a:solidFill>
                  <a:schemeClr val="accent3"/>
                </a:solidFill>
              </a:rPr>
              <a:t> de la </a:t>
            </a:r>
            <a:r>
              <a:rPr lang="en-US" sz="1100" dirty="0" err="1">
                <a:solidFill>
                  <a:schemeClr val="accent3"/>
                </a:solidFill>
              </a:rPr>
              <a:t>ultimul</a:t>
            </a:r>
            <a:r>
              <a:rPr lang="en-US" sz="1100" dirty="0">
                <a:solidFill>
                  <a:schemeClr val="accent3"/>
                </a:solidFill>
              </a:rPr>
              <a:t> checkpoint:  </a:t>
            </a:r>
            <a:r>
              <a:rPr lang="en-US" sz="1100" dirty="0" err="1">
                <a:solidFill>
                  <a:schemeClr val="accent3"/>
                </a:solidFill>
              </a:rPr>
              <a:t>alegere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unitate</a:t>
            </a:r>
            <a:r>
              <a:rPr lang="en-US" sz="1100" dirty="0">
                <a:solidFill>
                  <a:schemeClr val="accent3"/>
                </a:solidFill>
              </a:rPr>
              <a:t> de </a:t>
            </a:r>
            <a:r>
              <a:rPr lang="en-US" sz="1100" dirty="0" err="1">
                <a:solidFill>
                  <a:schemeClr val="accent3"/>
                </a:solidFill>
              </a:rPr>
              <a:t>analiza</a:t>
            </a:r>
            <a:r>
              <a:rPr lang="en-US" sz="1100" dirty="0">
                <a:solidFill>
                  <a:schemeClr val="accent3"/>
                </a:solidFill>
              </a:rPr>
              <a:t>, </a:t>
            </a:r>
            <a:r>
              <a:rPr lang="en-US" sz="1100" dirty="0" err="1">
                <a:solidFill>
                  <a:schemeClr val="accent3"/>
                </a:solidFill>
              </a:rPr>
              <a:t>surse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si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intrebare</a:t>
            </a:r>
            <a:endParaRPr lang="en-US" sz="1100" dirty="0">
              <a:solidFill>
                <a:schemeClr val="accent3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1100" dirty="0">
              <a:solidFill>
                <a:schemeClr val="accent3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chemeClr val="accent3"/>
                </a:solidFill>
              </a:rPr>
              <a:t>Ce am schimbat față de plan:  am </a:t>
            </a:r>
            <a:r>
              <a:rPr lang="en-US" sz="1100" dirty="0" err="1">
                <a:solidFill>
                  <a:schemeClr val="accent3"/>
                </a:solidFill>
              </a:rPr>
              <a:t>inlocuit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r>
              <a:rPr lang="en-US" sz="1100" dirty="0" err="1">
                <a:solidFill>
                  <a:schemeClr val="accent3"/>
                </a:solidFill>
              </a:rPr>
              <a:t>seturile</a:t>
            </a:r>
            <a:r>
              <a:rPr lang="en-US" sz="1100" dirty="0">
                <a:solidFill>
                  <a:schemeClr val="accent3"/>
                </a:solidFill>
              </a:rPr>
              <a:t> de date OpenStreetMap (OSM) + Copernicus GHSL-BUILT-H cu Copernicus GHSL-BUILT-UP 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1 din 3 · Fișier Moodle: CP1_StanciuRaducu_Stefan.pdf · Prezentare: 3 minute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DOVADA ETAPEI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2890"/>
            <a:ext cx="8046720" cy="33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Data card </a:t>
            </a:r>
            <a:r>
              <a:rPr lang="en-US" dirty="0" err="1"/>
              <a:t>sintetizat</a:t>
            </a:r>
            <a:r>
              <a:rPr lang="en-US" dirty="0"/>
              <a:t> + </a:t>
            </a:r>
            <a:r>
              <a:rPr lang="en-US" dirty="0" err="1"/>
              <a:t>tabel</a:t>
            </a:r>
            <a:r>
              <a:rPr lang="en-US" dirty="0"/>
              <a:t> SOA (10 </a:t>
            </a:r>
            <a:r>
              <a:rPr lang="en-US" dirty="0" err="1"/>
              <a:t>articole</a:t>
            </a:r>
            <a:r>
              <a:rPr lang="en-US" dirty="0"/>
              <a:t>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18629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 txBox="1"/>
          <p:nvPr/>
        </p:nvSpPr>
        <p:spPr>
          <a:xfrm>
            <a:off x="728581" y="1645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97861" y="3458029"/>
            <a:ext cx="2033705" cy="692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684"/>
                </a:solidFill>
              </a:rPr>
              <a:t>CP1: data card + tabelul aliniat + acoperirea · CP2: matricea X + scree/loadings · CP3: harta relațiilor + protocolul · CP4: o sursă vs. toate, cu intervale + ablație · CP5: figura centrală · CP6: demo din explorator</a:t>
            </a:r>
            <a:endParaRPr lang="en-US" sz="8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 txBox="1"/>
              <p:nvPr/>
            </p:nvSpPr>
            <p:spPr>
              <a:xfrm>
                <a:off x="6212042" y="979259"/>
                <a:ext cx="2815000" cy="2834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000" b="1" dirty="0">
                    <a:solidFill>
                      <a:schemeClr val="accent3"/>
                    </a:solidFill>
                  </a:rPr>
                  <a:t>Cum se verifică</a:t>
                </a:r>
                <a:endParaRPr lang="en-US" sz="1000" dirty="0">
                  <a:solidFill>
                    <a:schemeClr val="accent3"/>
                  </a:solidFill>
                </a:endParaRPr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000" dirty="0">
                    <a:solidFill>
                      <a:schemeClr val="accent3"/>
                    </a:solidFill>
                  </a:rPr>
                  <a:t>Repo / notebook: [link]</a:t>
                </a:r>
              </a:p>
              <a:p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b="1" dirty="0" err="1">
                    <a:solidFill>
                      <a:schemeClr val="accent3"/>
                    </a:solidFill>
                  </a:rPr>
                  <a:t>Integrare</a:t>
                </a:r>
                <a:r>
                  <a:rPr lang="en-US" sz="1000" b="1" dirty="0">
                    <a:solidFill>
                      <a:schemeClr val="accent3"/>
                    </a:solidFill>
                  </a:rPr>
                  <a:t> multi-</a:t>
                </a:r>
                <a:r>
                  <a:rPr lang="en-US" sz="1000" b="1" dirty="0" err="1">
                    <a:solidFill>
                      <a:schemeClr val="accent3"/>
                    </a:solidFill>
                  </a:rPr>
                  <a:t>sursă</a:t>
                </a:r>
                <a:r>
                  <a:rPr lang="en-US" sz="1000" b="1" dirty="0">
                    <a:solidFill>
                      <a:schemeClr val="accent3"/>
                    </a:solidFill>
                  </a:rPr>
                  <a:t> (4 </a:t>
                </a:r>
                <a:r>
                  <a:rPr lang="en-US" sz="1000" b="1" dirty="0" err="1">
                    <a:solidFill>
                      <a:schemeClr val="accent3"/>
                    </a:solidFill>
                  </a:rPr>
                  <a:t>cataloage</a:t>
                </a:r>
                <a:r>
                  <a:rPr lang="en-US" sz="1000" b="1" dirty="0">
                    <a:solidFill>
                      <a:schemeClr val="accent3"/>
                    </a:solidFill>
                  </a:rPr>
                  <a:t> GEE):</a:t>
                </a:r>
                <a:endParaRPr lang="en-US" sz="1000" dirty="0">
                  <a:solidFill>
                    <a:schemeClr val="accent3"/>
                  </a:solidFill>
                </a:endParaRP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solidFill>
                      <a:schemeClr val="accent3"/>
                    </a:solidFill>
                  </a:rPr>
                  <a:t>Landsat 8/9: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Temperatura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suprafeței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terestre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(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lst_celsius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,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10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10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  <m:sup>
                        <m:r>
                          <a:rPr lang="en-US" sz="100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  <m:e>
                        <m:r>
                          <m:rPr>
                            <m:nor/>
                          </m:rPr>
                          <a:rPr lang="en-US" sz="1000" i="0">
                            <a:solidFill>
                              <a:schemeClr val="accent3"/>
                            </a:solidFill>
                          </a:rPr>
                          <m:t>C</m:t>
                        </m:r>
                      </m:e>
                    </m:sPre>
                  </m:oMath>
                </a14:m>
                <a:r>
                  <a:rPr lang="en-US" sz="1000" dirty="0">
                    <a:solidFill>
                      <a:schemeClr val="accent3"/>
                    </a:solidFill>
                  </a:rPr>
                  <a:t>)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calculată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radiometric din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banda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termică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ST_B10.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solidFill>
                      <a:schemeClr val="accent3"/>
                    </a:solidFill>
                  </a:rPr>
                  <a:t>Sentinel-2 MSI: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Indicii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optici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de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vegetație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(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ndvi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)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și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amprentă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construită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(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ndbi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).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solidFill>
                      <a:schemeClr val="accent3"/>
                    </a:solidFill>
                  </a:rPr>
                  <a:t>Copernicus JRC GHSL: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Gradul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de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consolidare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urbană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istorică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pe 6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clase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(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apă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000" dirty="0" err="1">
                    <a:solidFill>
                      <a:schemeClr val="accent3"/>
                    </a:solidFill>
                  </a:rPr>
                  <a:t>nucleu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istoric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compact pre-1975).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000" b="1" dirty="0" err="1">
                    <a:solidFill>
                      <a:schemeClr val="accent3"/>
                    </a:solidFill>
                  </a:rPr>
                  <a:t>WorldPop</a:t>
                </a:r>
                <a:r>
                  <a:rPr lang="en-US" sz="1000" b="1" dirty="0">
                    <a:solidFill>
                      <a:schemeClr val="accent3"/>
                    </a:solidFill>
                  </a:rPr>
                  <a:t>: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Numărul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rezidenților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agregați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per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celulă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pentru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evaluarea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expunerii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la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stres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1000" dirty="0" err="1">
                    <a:solidFill>
                      <a:schemeClr val="accent3"/>
                    </a:solidFill>
                  </a:rPr>
                  <a:t>termic</a:t>
                </a:r>
                <a:r>
                  <a:rPr lang="en-US" sz="1000" dirty="0">
                    <a:solidFill>
                      <a:schemeClr val="accent3"/>
                    </a:solidFill>
                  </a:rPr>
                  <a:t>.</a:t>
                </a:r>
              </a:p>
              <a:p>
                <a:pPr marL="171450" indent="-171450"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:endParaRPr lang="en-US" sz="1000" dirty="0">
                  <a:solidFill>
                    <a:schemeClr val="accent3"/>
                  </a:solidFill>
                </a:endParaRPr>
              </a:p>
              <a:p>
                <a:endParaRPr lang="en-US" sz="10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42" y="979259"/>
                <a:ext cx="2815000" cy="2834640"/>
              </a:xfrm>
              <a:prstGeom prst="rect">
                <a:avLst/>
              </a:prstGeom>
              <a:blipFill>
                <a:blip r:embed="rId3"/>
                <a:stretch>
                  <a:fillRect l="-2814" t="-129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A0A3E4E-2A94-60E8-DFA4-E0FE52768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260812"/>
              </p:ext>
            </p:extLst>
          </p:nvPr>
        </p:nvGraphicFramePr>
        <p:xfrm>
          <a:off x="58021" y="976449"/>
          <a:ext cx="6096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629002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449165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5359015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884586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92737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88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03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650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2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452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71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64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06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38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09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3387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BLOCAJE ȘI URMĂTOARELE DOUĂ SĂPTĂMÂNI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Blocaje și următorii pași la CP2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Blocaje</a:t>
            </a:r>
            <a:endParaRPr lang="en-US" sz="110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en-US" sz="1050" dirty="0" err="1">
                <a:solidFill>
                  <a:srgbClr val="6B7684"/>
                </a:solidFill>
              </a:rPr>
              <a:t>Accesarea</a:t>
            </a:r>
            <a:r>
              <a:rPr lang="en-US" sz="1050" dirty="0">
                <a:solidFill>
                  <a:srgbClr val="6B7684"/>
                </a:solidFill>
              </a:rPr>
              <a:t> </a:t>
            </a:r>
            <a:r>
              <a:rPr lang="en-US" sz="1050" dirty="0" err="1">
                <a:solidFill>
                  <a:srgbClr val="6B7684"/>
                </a:solidFill>
              </a:rPr>
              <a:t>datelor</a:t>
            </a:r>
            <a:r>
              <a:rPr lang="en-US" sz="1050" dirty="0">
                <a:solidFill>
                  <a:srgbClr val="6B7684"/>
                </a:solidFill>
              </a:rPr>
              <a:t> din </a:t>
            </a:r>
            <a:r>
              <a:rPr lang="en-US" sz="1100" dirty="0">
                <a:solidFill>
                  <a:schemeClr val="accent3"/>
                </a:solidFill>
              </a:rPr>
              <a:t>OpenStreetMap (OSM) </a:t>
            </a:r>
            <a:r>
              <a:rPr lang="en-US" sz="1100" dirty="0" err="1">
                <a:solidFill>
                  <a:schemeClr val="accent3"/>
                </a:solidFill>
              </a:rPr>
              <a:t>si</a:t>
            </a:r>
            <a:r>
              <a:rPr lang="en-US" sz="1100" dirty="0">
                <a:solidFill>
                  <a:schemeClr val="accent3"/>
                </a:solidFill>
              </a:rPr>
              <a:t>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31920" cy="2468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702A"/>
                </a:solidFill>
              </a:rPr>
              <a:t>Planul pe 2 săptămâni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050" dirty="0" err="1">
                <a:solidFill>
                  <a:schemeClr val="accent3"/>
                </a:solidFill>
              </a:rPr>
              <a:t>Săptămâna</a:t>
            </a:r>
            <a:r>
              <a:rPr lang="en-US" sz="1050" dirty="0">
                <a:solidFill>
                  <a:schemeClr val="accent3"/>
                </a:solidFill>
              </a:rPr>
              <a:t> [6]: </a:t>
            </a:r>
            <a:r>
              <a:rPr lang="en-US" sz="1050" dirty="0" err="1">
                <a:solidFill>
                  <a:schemeClr val="accent3"/>
                </a:solidFill>
              </a:rPr>
              <a:t>Matricea</a:t>
            </a:r>
            <a:r>
              <a:rPr lang="en-US" sz="1050" dirty="0">
                <a:solidFill>
                  <a:schemeClr val="accent3"/>
                </a:solidFill>
              </a:rPr>
              <a:t> X </a:t>
            </a:r>
            <a:r>
              <a:rPr lang="en-US" sz="1050" dirty="0" err="1">
                <a:solidFill>
                  <a:schemeClr val="accent3"/>
                </a:solidFill>
              </a:rPr>
              <a:t>documentată</a:t>
            </a:r>
            <a:r>
              <a:rPr lang="en-US" sz="1050" dirty="0">
                <a:solidFill>
                  <a:schemeClr val="accent3"/>
                </a:solidFill>
              </a:rPr>
              <a:t> (n × d, cu </a:t>
            </a:r>
            <a:r>
              <a:rPr lang="en-US" sz="1050" dirty="0" err="1">
                <a:solidFill>
                  <a:schemeClr val="accent3"/>
                </a:solidFill>
              </a:rPr>
              <a:t>proveniența</a:t>
            </a:r>
            <a:r>
              <a:rPr lang="en-US" sz="1050" dirty="0">
                <a:solidFill>
                  <a:schemeClr val="accent3"/>
                </a:solidFill>
              </a:rPr>
              <a:t> </a:t>
            </a:r>
            <a:r>
              <a:rPr lang="en-US" sz="1050" dirty="0" err="1">
                <a:solidFill>
                  <a:schemeClr val="accent3"/>
                </a:solidFill>
              </a:rPr>
              <a:t>fiecărei</a:t>
            </a:r>
            <a:r>
              <a:rPr lang="en-US" sz="1050" dirty="0">
                <a:solidFill>
                  <a:schemeClr val="accent3"/>
                </a:solidFill>
              </a:rPr>
              <a:t> </a:t>
            </a:r>
            <a:r>
              <a:rPr lang="en-US" sz="1050" dirty="0" err="1">
                <a:solidFill>
                  <a:schemeClr val="accent3"/>
                </a:solidFill>
              </a:rPr>
              <a:t>trăsături</a:t>
            </a:r>
            <a:r>
              <a:rPr lang="en-US" sz="1050" dirty="0">
                <a:solidFill>
                  <a:schemeClr val="accent3"/>
                </a:solidFill>
              </a:rPr>
              <a:t>) + </a:t>
            </a:r>
            <a:r>
              <a:rPr lang="en-US" sz="1050" dirty="0" err="1">
                <a:solidFill>
                  <a:schemeClr val="accent3"/>
                </a:solidFill>
              </a:rPr>
              <a:t>analiza</a:t>
            </a:r>
            <a:r>
              <a:rPr lang="en-US" sz="1050" dirty="0">
                <a:solidFill>
                  <a:schemeClr val="accent3"/>
                </a:solidFill>
              </a:rPr>
              <a:t> </a:t>
            </a:r>
            <a:r>
              <a:rPr lang="en-US" sz="1050" dirty="0" err="1">
                <a:solidFill>
                  <a:schemeClr val="accent3"/>
                </a:solidFill>
              </a:rPr>
              <a:t>univariată</a:t>
            </a:r>
            <a:r>
              <a:rPr lang="en-US" sz="1050" dirty="0">
                <a:solidFill>
                  <a:schemeClr val="accent3"/>
                </a:solidFill>
              </a:rPr>
              <a:t>/</a:t>
            </a:r>
            <a:r>
              <a:rPr lang="en-US" sz="1050" dirty="0" err="1">
                <a:solidFill>
                  <a:schemeClr val="accent3"/>
                </a:solidFill>
              </a:rPr>
              <a:t>biv</a:t>
            </a:r>
            <a:r>
              <a:rPr lang="en-US" sz="1050" dirty="0">
                <a:solidFill>
                  <a:schemeClr val="accent3"/>
                </a:solidFill>
              </a:rPr>
              <a:t> </a:t>
            </a:r>
            <a:r>
              <a:rPr lang="en-US" sz="1050" dirty="0" err="1">
                <a:solidFill>
                  <a:schemeClr val="accent3"/>
                </a:solidFill>
              </a:rPr>
              <a:t>ariată</a:t>
            </a:r>
            <a:r>
              <a:rPr lang="en-US" sz="1050" dirty="0">
                <a:solidFill>
                  <a:schemeClr val="accent3"/>
                </a:solidFill>
              </a:rPr>
              <a:t> + prima </a:t>
            </a:r>
            <a:r>
              <a:rPr lang="en-US" sz="1050" dirty="0" err="1">
                <a:solidFill>
                  <a:schemeClr val="accent3"/>
                </a:solidFill>
              </a:rPr>
              <a:t>proiecție</a:t>
            </a:r>
            <a:r>
              <a:rPr lang="en-US" sz="1050" dirty="0">
                <a:solidFill>
                  <a:schemeClr val="accent3"/>
                </a:solidFill>
              </a:rPr>
              <a:t> PCA (scree, loadings) 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3 din 3 · Întrebarea pentru profesor / grup, dacă există: [__]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396</Words>
  <Application>Microsoft Office PowerPoint</Application>
  <PresentationFormat>On-screen Show (16:9)</PresentationFormat>
  <Paragraphs>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Cambria</vt:lpstr>
      <vt:lpstr>Cambria Math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Răducu-Ștefan STANCIU (126851)</cp:lastModifiedBy>
  <cp:revision>8</cp:revision>
  <dcterms:created xsi:type="dcterms:W3CDTF">2026-10-07T14:41:20Z</dcterms:created>
  <dcterms:modified xsi:type="dcterms:W3CDTF">2026-10-19T20:35:37Z</dcterms:modified>
</cp:coreProperties>
</file>