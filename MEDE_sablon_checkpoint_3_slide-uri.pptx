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Șablon" id="{A400C06E-735C-BC23-DC41-0A137D6A8A0E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3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20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00" kern="0" spc="200" dirty="0">
                <a:solidFill>
                  <a:srgbClr val="C8702A"/>
                </a:solidFill>
              </a:defRPr>
            </a:lvl1pPr>
          </a:lstStyle>
          <a:p>
            <a:pPr marL="0" indent="0">
              <a:buNone/>
            </a:pPr>
            <a:endParaRPr lang="en-US" sz="9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146304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97180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rgbClr val="E9E3D6"/>
                </a:solidFill>
              </a:defRPr>
            </a:lvl1pPr>
          </a:lstStyle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6A3"/>
                </a:solidFill>
              </a:rPr>
              <a:t>Săptămâna 1 · GeoSense Lab, ETTI–UNSTPB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dirty="0">
                <a:solidFill>
                  <a:srgbClr val="1B2A41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50" dirty="0">
                <a:solidFill>
                  <a:srgbClr val="3A4451"/>
                </a:solidFill>
              </a:defRPr>
            </a:lvl1pPr>
          </a:lstStyle>
          <a:p>
            <a:pPr marL="0" indent="0">
              <a:buNone/>
            </a:pPr>
            <a:endParaRPr lang="en-US" sz="12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C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9601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500" dirty="0">
                <a:solidFill>
                  <a:srgbClr val="C8702A"/>
                </a:solidFill>
              </a:defRPr>
            </a:lvl1pPr>
          </a:lstStyle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702A"/>
                </a:solidFill>
              </a:rPr>
              <a:t>MEDE · CP1 · </a:t>
            </a:r>
            <a:r>
              <a:rPr lang="en-US" sz="900" kern="0" spc="200" dirty="0" err="1">
                <a:solidFill>
                  <a:srgbClr val="C8702A"/>
                </a:solidFill>
              </a:rPr>
              <a:t>Fisa</a:t>
            </a:r>
            <a:r>
              <a:rPr lang="en-US" sz="900" kern="0" spc="200" dirty="0">
                <a:solidFill>
                  <a:srgbClr val="C8702A"/>
                </a:solidFill>
              </a:rPr>
              <a:t> de concept · </a:t>
            </a:r>
            <a:r>
              <a:rPr lang="en-US" sz="900" kern="0" spc="200">
                <a:solidFill>
                  <a:srgbClr val="C8702A"/>
                </a:solidFill>
              </a:rPr>
              <a:t>SĂPTĂMÂNA 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Stanciu Răducu-Ștefan · U13. </a:t>
            </a:r>
            <a:r>
              <a:rPr lang="en-US" sz="2400" dirty="0" err="1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Celula</a:t>
            </a:r>
            <a:r>
              <a:rPr lang="en-US" sz="240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Urbana · </a:t>
            </a:r>
            <a:r>
              <a:rPr lang="en-US" sz="2400" dirty="0" err="1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Fenomenul</a:t>
            </a:r>
            <a:r>
              <a:rPr lang="en-US" sz="240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Insula de </a:t>
            </a:r>
            <a:r>
              <a:rPr lang="en-US" sz="2400" dirty="0" err="1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caldura</a:t>
            </a:r>
            <a:r>
              <a:rPr lang="en-US" sz="240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400" dirty="0" err="1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</a:t>
            </a:r>
            <a:r>
              <a:rPr lang="en-US" sz="240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forma </a:t>
            </a:r>
            <a:r>
              <a:rPr lang="en-US" sz="2400" dirty="0" err="1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urbana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B2A41"/>
                </a:solidFill>
              </a:rPr>
              <a:t>Întrebarea mea</a:t>
            </a:r>
            <a:endParaRPr lang="en-US" sz="1100" dirty="0"/>
          </a:p>
          <a:p>
            <a:pPr>
              <a:spcAft>
                <a:spcPts val="500"/>
              </a:spcAft>
            </a:pPr>
            <a:r>
              <a:rPr lang="en-US" sz="1100" dirty="0"/>
              <a:t>Q13.4 </a:t>
            </a:r>
            <a:r>
              <a:rPr lang="en-US" sz="1100" dirty="0" err="1"/>
              <a:t>Bucureștiul</a:t>
            </a:r>
            <a:r>
              <a:rPr lang="en-US" sz="1100" dirty="0"/>
              <a:t> </a:t>
            </a:r>
            <a:r>
              <a:rPr lang="en-US" sz="1100" dirty="0" err="1"/>
              <a:t>seamănă</a:t>
            </a:r>
            <a:r>
              <a:rPr lang="en-US" sz="1100" dirty="0"/>
              <a:t> cu alt </a:t>
            </a:r>
            <a:r>
              <a:rPr lang="en-US" sz="1100" dirty="0" err="1"/>
              <a:t>oraș</a:t>
            </a:r>
            <a:r>
              <a:rPr lang="en-US" sz="1100" dirty="0"/>
              <a:t>  ca </a:t>
            </a:r>
            <a:r>
              <a:rPr lang="en-US" sz="1100" dirty="0" err="1"/>
              <a:t>structură</a:t>
            </a:r>
            <a:r>
              <a:rPr lang="en-US" sz="1100" dirty="0"/>
              <a:t> </a:t>
            </a:r>
            <a:r>
              <a:rPr lang="en-US" sz="1100" dirty="0" err="1"/>
              <a:t>termică</a:t>
            </a:r>
            <a:r>
              <a:rPr lang="en-US" sz="1100" dirty="0"/>
              <a:t>?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48640" y="25755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 dirty="0" err="1">
                <a:solidFill>
                  <a:srgbClr val="1B2A41"/>
                </a:solidFill>
              </a:rPr>
              <a:t>Unitatea</a:t>
            </a:r>
            <a:r>
              <a:rPr lang="en-US" sz="1100" b="1" dirty="0">
                <a:solidFill>
                  <a:srgbClr val="1B2A41"/>
                </a:solidFill>
              </a:rPr>
              <a:t> </a:t>
            </a:r>
            <a:r>
              <a:rPr lang="en-US" sz="1100" b="1" dirty="0" err="1">
                <a:solidFill>
                  <a:srgbClr val="1B2A41"/>
                </a:solidFill>
              </a:rPr>
              <a:t>și</a:t>
            </a:r>
            <a:r>
              <a:rPr lang="en-US" sz="1100" b="1" dirty="0">
                <a:solidFill>
                  <a:srgbClr val="1B2A41"/>
                </a:solidFill>
              </a:rPr>
              <a:t> </a:t>
            </a:r>
            <a:r>
              <a:rPr lang="en-US" sz="1100" b="1" dirty="0" err="1">
                <a:solidFill>
                  <a:srgbClr val="1B2A41"/>
                </a:solidFill>
              </a:rPr>
              <a:t>sursele</a:t>
            </a:r>
            <a:endParaRPr lang="en-US" sz="1100" dirty="0"/>
          </a:p>
          <a:p>
            <a:pPr>
              <a:spcAft>
                <a:spcPts val="500"/>
              </a:spcAft>
            </a:pPr>
            <a:r>
              <a:rPr lang="en-US" sz="1050" dirty="0">
                <a:solidFill>
                  <a:schemeClr val="tx2"/>
                </a:solidFill>
              </a:rPr>
              <a:t>Grid </a:t>
            </a:r>
            <a:r>
              <a:rPr lang="en-US" sz="1050" dirty="0" err="1">
                <a:solidFill>
                  <a:schemeClr val="tx2"/>
                </a:solidFill>
              </a:rPr>
              <a:t>regulat</a:t>
            </a:r>
            <a:r>
              <a:rPr lang="en-US" sz="1050" dirty="0">
                <a:solidFill>
                  <a:schemeClr val="tx2"/>
                </a:solidFill>
              </a:rPr>
              <a:t> de 250mx250m → Landsat 8/9 Collection 2 Level-2 + Sentinel-2 Level-2A (via Google Earth Engine) + Copernicus GHSL-BUILT-UP  + </a:t>
            </a:r>
            <a:r>
              <a:rPr lang="en-US" sz="1050" dirty="0" err="1">
                <a:solidFill>
                  <a:schemeClr val="tx2"/>
                </a:solidFill>
              </a:rPr>
              <a:t>WorldPop</a:t>
            </a:r>
            <a:r>
              <a:rPr lang="en-US" sz="1050" dirty="0">
                <a:solidFill>
                  <a:schemeClr val="tx2"/>
                </a:solidFill>
              </a:rPr>
              <a:t>,  </a:t>
            </a:r>
            <a:r>
              <a:rPr lang="en-US" sz="1100" dirty="0" err="1">
                <a:solidFill>
                  <a:schemeClr val="tx2"/>
                </a:solidFill>
              </a:rPr>
              <a:t>Compozit</a:t>
            </a:r>
            <a:r>
              <a:rPr lang="en-US" sz="1100" dirty="0">
                <a:solidFill>
                  <a:schemeClr val="tx2"/>
                </a:solidFill>
              </a:rPr>
              <a:t> </a:t>
            </a:r>
            <a:r>
              <a:rPr lang="en-US" sz="1100" dirty="0" err="1">
                <a:solidFill>
                  <a:schemeClr val="tx2"/>
                </a:solidFill>
              </a:rPr>
              <a:t>sezonier</a:t>
            </a:r>
            <a:r>
              <a:rPr lang="en-US" sz="1100" dirty="0">
                <a:solidFill>
                  <a:schemeClr val="tx2"/>
                </a:solidFill>
              </a:rPr>
              <a:t> de </a:t>
            </a:r>
            <a:r>
              <a:rPr lang="en-US" sz="1100" dirty="0" err="1">
                <a:solidFill>
                  <a:schemeClr val="tx2"/>
                </a:solidFill>
              </a:rPr>
              <a:t>vară</a:t>
            </a:r>
            <a:r>
              <a:rPr lang="en-US" sz="1100" dirty="0">
                <a:solidFill>
                  <a:schemeClr val="tx2"/>
                </a:solidFill>
              </a:rPr>
              <a:t> (</a:t>
            </a:r>
            <a:r>
              <a:rPr lang="en-US" sz="1100" dirty="0" err="1">
                <a:solidFill>
                  <a:schemeClr val="tx2"/>
                </a:solidFill>
              </a:rPr>
              <a:t>Iunie</a:t>
            </a:r>
            <a:r>
              <a:rPr lang="en-US" sz="1100" dirty="0">
                <a:solidFill>
                  <a:schemeClr val="tx2"/>
                </a:solidFill>
              </a:rPr>
              <a:t> – August)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B2A41"/>
                </a:solidFill>
              </a:rPr>
              <a:t>Cui îi folosește răspunsul</a:t>
            </a:r>
            <a:endParaRPr lang="en-US" sz="11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 err="1">
                <a:solidFill>
                  <a:srgbClr val="6B7684"/>
                </a:solidFill>
              </a:rPr>
              <a:t>Raspunsul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intrebarii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este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folositor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pentru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primarii</a:t>
            </a:r>
            <a:r>
              <a:rPr lang="en-US" sz="1050" dirty="0">
                <a:solidFill>
                  <a:srgbClr val="6B7684"/>
                </a:solidFill>
              </a:rPr>
              <a:t>, </a:t>
            </a:r>
            <a:r>
              <a:rPr lang="en-US" sz="1050" dirty="0" err="1">
                <a:solidFill>
                  <a:srgbClr val="6B7684"/>
                </a:solidFill>
              </a:rPr>
              <a:t>finantatori</a:t>
            </a:r>
            <a:r>
              <a:rPr lang="en-US" sz="1050" dirty="0">
                <a:solidFill>
                  <a:srgbClr val="6B7684"/>
                </a:solidFill>
              </a:rPr>
              <a:t>, </a:t>
            </a:r>
            <a:r>
              <a:rPr lang="en-US" sz="1050" dirty="0" err="1">
                <a:solidFill>
                  <a:srgbClr val="6B7684"/>
                </a:solidFill>
              </a:rPr>
              <a:t>dar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si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pentru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cercetatori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climatici</a:t>
            </a:r>
            <a:r>
              <a:rPr lang="en-US" sz="1050" dirty="0">
                <a:solidFill>
                  <a:srgbClr val="6B7684"/>
                </a:solidFill>
              </a:rPr>
              <a:t>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3931920" cy="2194560"/>
          </a:xfrm>
          <a:prstGeom prst="rect">
            <a:avLst/>
          </a:prstGeom>
          <a:solidFill>
            <a:srgbClr val="E9E3D6"/>
          </a:solidFill>
          <a:ln w="12700">
            <a:solidFill>
              <a:srgbClr val="E9E3D6"/>
            </a:solidFill>
            <a:prstDash val="solid"/>
          </a:ln>
        </p:spPr>
        <p:txBody>
          <a:bodyPr/>
          <a:lstStyle/>
          <a:p>
            <a:endParaRPr lang="en-RO"/>
          </a:p>
        </p:txBody>
      </p:sp>
      <p:sp>
        <p:nvSpPr>
          <p:cNvPr id="8" name="Text 6"/>
          <p:cNvSpPr txBox="1"/>
          <p:nvPr/>
        </p:nvSpPr>
        <p:spPr>
          <a:xfrm>
            <a:off x="4805918" y="1691640"/>
            <a:ext cx="35661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</a:rPr>
              <a:t>Unde am ajuns</a:t>
            </a:r>
            <a:endParaRPr lang="en-US" sz="1100" dirty="0">
              <a:solidFill>
                <a:schemeClr val="accent3"/>
              </a:solidFill>
            </a:endParaRP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chemeClr val="accent3"/>
                </a:solidFill>
              </a:rPr>
              <a:t>Etapa </a:t>
            </a:r>
            <a:r>
              <a:rPr lang="en-US" sz="1100" dirty="0" err="1">
                <a:solidFill>
                  <a:schemeClr val="accent3"/>
                </a:solidFill>
              </a:rPr>
              <a:t>curentă</a:t>
            </a:r>
            <a:r>
              <a:rPr lang="en-US" sz="1100" dirty="0">
                <a:solidFill>
                  <a:schemeClr val="accent3"/>
                </a:solidFill>
              </a:rPr>
              <a:t>: </a:t>
            </a:r>
            <a:r>
              <a:rPr lang="en-US" sz="1100" dirty="0" err="1">
                <a:solidFill>
                  <a:schemeClr val="accent3"/>
                </a:solidFill>
              </a:rPr>
              <a:t>alinierea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spatiala</a:t>
            </a:r>
            <a:r>
              <a:rPr lang="en-US" sz="1100" dirty="0">
                <a:solidFill>
                  <a:schemeClr val="accent3"/>
                </a:solidFill>
              </a:rPr>
              <a:t>, </a:t>
            </a:r>
            <a:r>
              <a:rPr lang="en-US" sz="1100" dirty="0" err="1">
                <a:solidFill>
                  <a:schemeClr val="accent3"/>
                </a:solidFill>
              </a:rPr>
              <a:t>temporala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si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semantica</a:t>
            </a:r>
            <a:r>
              <a:rPr lang="en-US" sz="1100" dirty="0">
                <a:solidFill>
                  <a:schemeClr val="accent3"/>
                </a:solidFill>
              </a:rPr>
              <a:t> a </a:t>
            </a:r>
            <a:r>
              <a:rPr lang="en-US" sz="1100" dirty="0" err="1">
                <a:solidFill>
                  <a:schemeClr val="accent3"/>
                </a:solidFill>
              </a:rPr>
              <a:t>datelor</a:t>
            </a:r>
            <a:r>
              <a:rPr lang="en-US" sz="1100" dirty="0">
                <a:solidFill>
                  <a:schemeClr val="accent3"/>
                </a:solidFill>
              </a:rPr>
              <a:t>, data card </a:t>
            </a:r>
            <a:r>
              <a:rPr lang="en-US" sz="1100" dirty="0" err="1">
                <a:solidFill>
                  <a:schemeClr val="accent3"/>
                </a:solidFill>
              </a:rPr>
              <a:t>si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tabel</a:t>
            </a:r>
            <a:r>
              <a:rPr lang="en-US" sz="1100" dirty="0">
                <a:solidFill>
                  <a:schemeClr val="accent3"/>
                </a:solidFill>
              </a:rPr>
              <a:t> SOA </a:t>
            </a:r>
          </a:p>
          <a:p>
            <a:pPr>
              <a:spcAft>
                <a:spcPts val="500"/>
              </a:spcAft>
            </a:pPr>
            <a:endParaRPr lang="en-US" sz="1100" dirty="0">
              <a:solidFill>
                <a:schemeClr val="accent3"/>
              </a:solidFill>
            </a:endParaRP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Făcut</a:t>
            </a:r>
            <a:r>
              <a:rPr lang="en-US" sz="1100" dirty="0">
                <a:solidFill>
                  <a:schemeClr val="accent3"/>
                </a:solidFill>
              </a:rPr>
              <a:t> de la </a:t>
            </a:r>
            <a:r>
              <a:rPr lang="en-US" sz="1100" dirty="0" err="1">
                <a:solidFill>
                  <a:schemeClr val="accent3"/>
                </a:solidFill>
              </a:rPr>
              <a:t>ultimul</a:t>
            </a:r>
            <a:r>
              <a:rPr lang="en-US" sz="1100" dirty="0">
                <a:solidFill>
                  <a:schemeClr val="accent3"/>
                </a:solidFill>
              </a:rPr>
              <a:t> checkpoint:  </a:t>
            </a:r>
            <a:r>
              <a:rPr lang="en-US" sz="1100" dirty="0" err="1">
                <a:solidFill>
                  <a:schemeClr val="accent3"/>
                </a:solidFill>
              </a:rPr>
              <a:t>alegere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unitate</a:t>
            </a:r>
            <a:r>
              <a:rPr lang="en-US" sz="1100" dirty="0">
                <a:solidFill>
                  <a:schemeClr val="accent3"/>
                </a:solidFill>
              </a:rPr>
              <a:t> de </a:t>
            </a:r>
            <a:r>
              <a:rPr lang="en-US" sz="1100" dirty="0" err="1">
                <a:solidFill>
                  <a:schemeClr val="accent3"/>
                </a:solidFill>
              </a:rPr>
              <a:t>analiza</a:t>
            </a:r>
            <a:r>
              <a:rPr lang="en-US" sz="1100" dirty="0">
                <a:solidFill>
                  <a:schemeClr val="accent3"/>
                </a:solidFill>
              </a:rPr>
              <a:t>, </a:t>
            </a:r>
            <a:r>
              <a:rPr lang="en-US" sz="1100" dirty="0" err="1">
                <a:solidFill>
                  <a:schemeClr val="accent3"/>
                </a:solidFill>
              </a:rPr>
              <a:t>surse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si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intrebare</a:t>
            </a:r>
            <a:endParaRPr lang="en-US" sz="1100" dirty="0">
              <a:solidFill>
                <a:schemeClr val="accent3"/>
              </a:solidFill>
            </a:endParaRPr>
          </a:p>
          <a:p>
            <a:pPr marL="0" indent="0">
              <a:spcAft>
                <a:spcPts val="500"/>
              </a:spcAft>
              <a:buNone/>
            </a:pPr>
            <a:endParaRPr lang="en-US" sz="1100" dirty="0">
              <a:solidFill>
                <a:schemeClr val="accent3"/>
              </a:solidFill>
            </a:endParaRP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chemeClr val="accent3"/>
                </a:solidFill>
              </a:rPr>
              <a:t>Ce am schimbat față de plan:  am </a:t>
            </a:r>
            <a:r>
              <a:rPr lang="en-US" sz="1100" dirty="0" err="1">
                <a:solidFill>
                  <a:schemeClr val="accent3"/>
                </a:solidFill>
              </a:rPr>
              <a:t>inlocuit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r>
              <a:rPr lang="en-US" sz="1100" dirty="0" err="1">
                <a:solidFill>
                  <a:schemeClr val="accent3"/>
                </a:solidFill>
              </a:rPr>
              <a:t>seturile</a:t>
            </a:r>
            <a:r>
              <a:rPr lang="en-US" sz="1100" dirty="0">
                <a:solidFill>
                  <a:schemeClr val="accent3"/>
                </a:solidFill>
              </a:rPr>
              <a:t> de date OpenStreetMap (OSM) + Copernicus GHSL-BUILT-H cu Copernicus GHSL-BUILT-UP 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4"/>
                </a:solidFill>
              </a:rPr>
              <a:t>Slide 1 din 3 · Fișier Moodle: CP1_StanciuRaducu_Stefan.pdf · Prezentare: 3 minute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702A"/>
                </a:solidFill>
              </a:rPr>
              <a:t>DOVADA ETAPEI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2890"/>
            <a:ext cx="8046720" cy="336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Data card </a:t>
            </a:r>
            <a:r>
              <a:rPr lang="en-US" dirty="0" err="1"/>
              <a:t>sintetizat</a:t>
            </a:r>
            <a:r>
              <a:rPr lang="en-US" dirty="0"/>
              <a:t> + </a:t>
            </a:r>
            <a:r>
              <a:rPr lang="en-US" dirty="0" err="1"/>
              <a:t>tabel</a:t>
            </a:r>
            <a:r>
              <a:rPr lang="en-US" dirty="0"/>
              <a:t> SOA (10 </a:t>
            </a:r>
            <a:r>
              <a:rPr lang="en-US" dirty="0" err="1"/>
              <a:t>articole</a:t>
            </a:r>
            <a:r>
              <a:rPr lang="en-US" dirty="0"/>
              <a:t>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2186290"/>
          </a:xfrm>
          <a:prstGeom prst="rect">
            <a:avLst/>
          </a:prstGeom>
          <a:solidFill>
            <a:srgbClr val="E9E3D6"/>
          </a:solidFill>
          <a:ln w="12700">
            <a:solidFill>
              <a:srgbClr val="E9E3D6"/>
            </a:solidFill>
            <a:prstDash val="solid"/>
          </a:ln>
        </p:spPr>
        <p:txBody>
          <a:bodyPr/>
          <a:lstStyle/>
          <a:p>
            <a:endParaRPr lang="en-RO"/>
          </a:p>
        </p:txBody>
      </p:sp>
      <p:sp>
        <p:nvSpPr>
          <p:cNvPr id="5" name="Text 3"/>
          <p:cNvSpPr txBox="1"/>
          <p:nvPr/>
        </p:nvSpPr>
        <p:spPr>
          <a:xfrm>
            <a:off x="728581" y="16459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397861" y="3458029"/>
            <a:ext cx="2033705" cy="69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B7684"/>
                </a:solidFill>
              </a:rPr>
              <a:t>CP1: data card + tabelul aliniat + acoperirea · CP2: matricea X + scree/loadings · CP3: harta relațiilor + protocolul · CP4: o sursă vs. toate, cu intervale + ablație · CP5: figura centrală · CP6: demo din explorator</a:t>
            </a:r>
            <a:endParaRPr lang="en-US" sz="8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 txBox="1"/>
              <p:nvPr/>
            </p:nvSpPr>
            <p:spPr>
              <a:xfrm>
                <a:off x="6212042" y="979259"/>
                <a:ext cx="2815000" cy="28346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spcAft>
                    <a:spcPts val="600"/>
                  </a:spcAft>
                  <a:buNone/>
                </a:pPr>
                <a:r>
                  <a:rPr lang="en-US" sz="1000" b="1" dirty="0">
                    <a:solidFill>
                      <a:schemeClr val="accent3"/>
                    </a:solidFill>
                  </a:rPr>
                  <a:t>Cum se verifică</a:t>
                </a:r>
                <a:endParaRPr lang="en-US" sz="1000" dirty="0">
                  <a:solidFill>
                    <a:schemeClr val="accent3"/>
                  </a:solidFill>
                </a:endParaRP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US" sz="1000" dirty="0">
                    <a:solidFill>
                      <a:schemeClr val="accent3"/>
                    </a:solidFill>
                  </a:rPr>
                  <a:t>Repo / notebook: [link]</a:t>
                </a:r>
              </a:p>
              <a:p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b="1" dirty="0">
                    <a:solidFill>
                      <a:schemeClr val="accent3"/>
                    </a:solidFill>
                  </a:rPr>
                  <a:t>Data cards:</a:t>
                </a:r>
                <a:endParaRPr lang="en-US" sz="1000" dirty="0">
                  <a:solidFill>
                    <a:schemeClr val="accent3"/>
                  </a:solidFill>
                </a:endParaRP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1000" b="1" dirty="0">
                    <a:solidFill>
                      <a:schemeClr val="accent3"/>
                    </a:solidFill>
                  </a:rPr>
                  <a:t>Landsat 8/9: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Temperatura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suprafeței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terestre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(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lst_celsius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,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US" sz="100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PrePr>
                      <m:sub>
                        <m:r>
                          <a:rPr lang="en-US" sz="100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  <m:sup>
                        <m:r>
                          <a:rPr lang="en-US" sz="100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  <m:e>
                        <m:r>
                          <m:rPr>
                            <m:nor/>
                          </m:rPr>
                          <a:rPr lang="en-US" sz="1000" i="0">
                            <a:solidFill>
                              <a:schemeClr val="accent3"/>
                            </a:solidFill>
                          </a:rPr>
                          <m:t>C</m:t>
                        </m:r>
                      </m:e>
                    </m:sPre>
                  </m:oMath>
                </a14:m>
                <a:r>
                  <a:rPr lang="en-US" sz="1000" dirty="0">
                    <a:solidFill>
                      <a:schemeClr val="accent3"/>
                    </a:solidFill>
                  </a:rPr>
                  <a:t>)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calculată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radiometric din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banda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termică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ST_B10.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1000" b="1" dirty="0">
                    <a:solidFill>
                      <a:schemeClr val="accent3"/>
                    </a:solidFill>
                  </a:rPr>
                  <a:t>Sentinel-2 MSI: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Indicii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optici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de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vegetație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(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ndvi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)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și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amprentă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construită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(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ndbi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).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1000" b="1" dirty="0">
                    <a:solidFill>
                      <a:schemeClr val="accent3"/>
                    </a:solidFill>
                  </a:rPr>
                  <a:t>Copernicus JRC GHSL: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Gradul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de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consolidare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urbană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istorică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pe 6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clase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(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apă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 err="1">
                    <a:solidFill>
                      <a:schemeClr val="accent3"/>
                    </a:solidFill>
                  </a:rPr>
                  <a:t>nucleu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istoric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compact pre-1975).</a:t>
                </a:r>
              </a:p>
              <a:p>
                <a:pPr marL="171450" lvl="0" indent="-171450">
                  <a:buFont typeface="Arial" panose="020B0604020202020204" pitchFamily="34" charset="0"/>
                  <a:buChar char="•"/>
                </a:pPr>
                <a:r>
                  <a:rPr lang="en-US" sz="1000" b="1" dirty="0" err="1">
                    <a:solidFill>
                      <a:schemeClr val="accent3"/>
                    </a:solidFill>
                  </a:rPr>
                  <a:t>WorldPop</a:t>
                </a:r>
                <a:r>
                  <a:rPr lang="en-US" sz="1000" b="1" dirty="0">
                    <a:solidFill>
                      <a:schemeClr val="accent3"/>
                    </a:solidFill>
                  </a:rPr>
                  <a:t>: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Numărul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rezidenților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agregați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per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celulă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pentru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evaluarea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expunerii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la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stres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1000" dirty="0" err="1">
                    <a:solidFill>
                      <a:schemeClr val="accent3"/>
                    </a:solidFill>
                  </a:rPr>
                  <a:t>termic</a:t>
                </a:r>
                <a:r>
                  <a:rPr lang="en-US" sz="1000" dirty="0">
                    <a:solidFill>
                      <a:schemeClr val="accent3"/>
                    </a:solidFill>
                  </a:rPr>
                  <a:t>.</a:t>
                </a:r>
              </a:p>
              <a:p>
                <a:pPr marL="171450" indent="-17145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endParaRPr lang="en-US" sz="1000" dirty="0">
                  <a:solidFill>
                    <a:schemeClr val="accent3"/>
                  </a:solidFill>
                </a:endParaRPr>
              </a:p>
              <a:p>
                <a:endParaRPr lang="en-US" sz="1000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042" y="979259"/>
                <a:ext cx="2815000" cy="2834640"/>
              </a:xfrm>
              <a:prstGeom prst="rect">
                <a:avLst/>
              </a:prstGeom>
              <a:blipFill>
                <a:blip r:embed="rId3"/>
                <a:stretch>
                  <a:fillRect l="-2814" t="-129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E754D91-8886-1DD4-8F2F-6480833194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406614"/>
                  </p:ext>
                </p:extLst>
              </p:nvPr>
            </p:nvGraphicFramePr>
            <p:xfrm>
              <a:off x="419526" y="1273485"/>
              <a:ext cx="5428225" cy="2931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85645">
                      <a:extLst>
                        <a:ext uri="{9D8B030D-6E8A-4147-A177-3AD203B41FA5}">
                          <a16:colId xmlns:a16="http://schemas.microsoft.com/office/drawing/2014/main" val="635176134"/>
                        </a:ext>
                      </a:extLst>
                    </a:gridCol>
                    <a:gridCol w="1087584">
                      <a:extLst>
                        <a:ext uri="{9D8B030D-6E8A-4147-A177-3AD203B41FA5}">
                          <a16:colId xmlns:a16="http://schemas.microsoft.com/office/drawing/2014/main" val="3904922405"/>
                        </a:ext>
                      </a:extLst>
                    </a:gridCol>
                    <a:gridCol w="1083706">
                      <a:extLst>
                        <a:ext uri="{9D8B030D-6E8A-4147-A177-3AD203B41FA5}">
                          <a16:colId xmlns:a16="http://schemas.microsoft.com/office/drawing/2014/main" val="174791874"/>
                        </a:ext>
                      </a:extLst>
                    </a:gridCol>
                    <a:gridCol w="1085645">
                      <a:extLst>
                        <a:ext uri="{9D8B030D-6E8A-4147-A177-3AD203B41FA5}">
                          <a16:colId xmlns:a16="http://schemas.microsoft.com/office/drawing/2014/main" val="2429242358"/>
                        </a:ext>
                      </a:extLst>
                    </a:gridCol>
                    <a:gridCol w="1085645">
                      <a:extLst>
                        <a:ext uri="{9D8B030D-6E8A-4147-A177-3AD203B41FA5}">
                          <a16:colId xmlns:a16="http://schemas.microsoft.com/office/drawing/2014/main" val="96289238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Titlu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Surse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Metoda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exploratorie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Metrica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Rezultat</a:t>
                          </a:r>
                          <a:endParaRPr lang="en-US" sz="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33615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Land Use/Land Cover changes dynamics and their effects on Surface Urban Heat Island in Bucharest, Romania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/>
                            <a:t>Landsat 5 TM, 7 ETM+, 8 OLI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Clasificare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supervizată</a:t>
                          </a:r>
                          <a:r>
                            <a:rPr lang="en-US" sz="600" dirty="0"/>
                            <a:t> (Maximum Likelihood), </a:t>
                          </a:r>
                          <a:r>
                            <a:rPr lang="en-US" sz="600" dirty="0" err="1"/>
                            <a:t>detecție</a:t>
                          </a:r>
                          <a:r>
                            <a:rPr lang="en-US" sz="600" dirty="0"/>
                            <a:t> post-</a:t>
                          </a:r>
                          <a:r>
                            <a:rPr lang="en-US" sz="600" dirty="0" err="1"/>
                            <a:t>clasificare</a:t>
                          </a:r>
                          <a:r>
                            <a:rPr lang="en-US" sz="600" dirty="0"/>
                            <a:t> a </a:t>
                          </a:r>
                          <a:r>
                            <a:rPr lang="en-US" sz="600" dirty="0" err="1"/>
                            <a:t>schimbărilor</a:t>
                          </a:r>
                          <a:r>
                            <a:rPr lang="en-US" sz="600" dirty="0"/>
                            <a:t> LULC, </a:t>
                          </a:r>
                          <a:r>
                            <a:rPr lang="en-US" sz="600" dirty="0" err="1"/>
                            <a:t>calcul</a:t>
                          </a:r>
                          <a:r>
                            <a:rPr lang="en-US" sz="600" dirty="0"/>
                            <a:t> LST/NDVI </a:t>
                          </a:r>
                          <a:r>
                            <a:rPr lang="en-US" sz="600" dirty="0" err="1"/>
                            <a:t>și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corelație</a:t>
                          </a:r>
                          <a:r>
                            <a:rPr lang="en-US" sz="600" dirty="0"/>
                            <a:t> Pearson pixel-cu-pixel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Acuratețe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globală</a:t>
                          </a:r>
                          <a:r>
                            <a:rPr lang="en-US" sz="600" dirty="0"/>
                            <a:t> ,</a:t>
                          </a:r>
                          <a:r>
                            <a:rPr lang="en-US" sz="600" dirty="0" err="1"/>
                            <a:t>coeficient</a:t>
                          </a:r>
                          <a:r>
                            <a:rPr lang="en-US" sz="600" dirty="0"/>
                            <a:t> Kappa LST </a:t>
                          </a:r>
                          <a:r>
                            <a:rPr lang="en-US" sz="600" dirty="0" err="1"/>
                            <a:t>normalizat</a:t>
                          </a:r>
                          <a:r>
                            <a:rPr lang="en-US" sz="600" dirty="0"/>
                            <a:t> (NLST), </a:t>
                          </a:r>
                          <a:r>
                            <a:rPr lang="en-US" sz="600" dirty="0" err="1"/>
                            <a:t>intensitate</a:t>
                          </a:r>
                          <a:r>
                            <a:rPr lang="en-US" sz="600" dirty="0"/>
                            <a:t> UHI </a:t>
                          </a:r>
                          <a:r>
                            <a:rPr lang="en-US" sz="600" dirty="0" err="1"/>
                            <a:t>coeficient</a:t>
                          </a:r>
                          <a:r>
                            <a:rPr lang="en-US" sz="600" dirty="0"/>
                            <a:t> Pearson (</a:t>
                          </a:r>
                          <a14:m>
                            <m:oMath xmlns:m="http://schemas.openxmlformats.org/officeDocument/2006/math">
                              <m:r>
                                <a:rPr lang="en-US" sz="600" i="1" kern="120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</m:oMath>
                          </a14:m>
                          <a:r>
                            <a:rPr lang="en-US" sz="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Construcțiile</a:t>
                          </a:r>
                          <a:r>
                            <a:rPr lang="en-US" sz="600" dirty="0"/>
                            <a:t> au </a:t>
                          </a:r>
                          <a:r>
                            <a:rPr lang="en-US" sz="600" dirty="0" err="1"/>
                            <a:t>crescut</a:t>
                          </a:r>
                          <a:r>
                            <a:rPr lang="en-US" sz="600" dirty="0"/>
                            <a:t> cu +9.9% </a:t>
                          </a:r>
                          <a:r>
                            <a:rPr lang="en-US" sz="600" dirty="0" err="1"/>
                            <a:t>și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terenul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arabil</a:t>
                          </a:r>
                          <a:r>
                            <a:rPr lang="en-US" sz="600" dirty="0"/>
                            <a:t> a </a:t>
                          </a:r>
                          <a:r>
                            <a:rPr lang="en-US" sz="600" dirty="0" err="1"/>
                            <a:t>scăzut</a:t>
                          </a:r>
                          <a:r>
                            <a:rPr lang="en-US" sz="600" dirty="0"/>
                            <a:t> cu -16.1%; </a:t>
                          </a:r>
                          <a:r>
                            <a:rPr lang="en-US" sz="600" dirty="0" err="1"/>
                            <a:t>conversia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spre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clădiri</a:t>
                          </a:r>
                          <a:r>
                            <a:rPr lang="en-US" sz="600" dirty="0"/>
                            <a:t> a </a:t>
                          </a:r>
                          <a:r>
                            <a:rPr lang="en-US" sz="600" dirty="0" err="1"/>
                            <a:t>crescut</a:t>
                          </a:r>
                          <a:r>
                            <a:rPr lang="en-US" sz="600" dirty="0"/>
                            <a:t> NLST cu </a:t>
                          </a:r>
                          <a:r>
                            <a:rPr lang="en-US" sz="600" dirty="0" err="1"/>
                            <a:t>până</a:t>
                          </a:r>
                          <a:r>
                            <a:rPr lang="en-US" sz="600" dirty="0"/>
                            <a:t> la 0.5; </a:t>
                          </a:r>
                          <a:r>
                            <a:rPr lang="en-US" sz="600" dirty="0" err="1"/>
                            <a:t>intensitatea</a:t>
                          </a:r>
                          <a:r>
                            <a:rPr lang="en-US" sz="600" dirty="0"/>
                            <a:t> UHI urban-rural a </a:t>
                          </a:r>
                          <a:r>
                            <a:rPr lang="en-US" sz="600" dirty="0" err="1"/>
                            <a:t>scăzut</a:t>
                          </a:r>
                          <a:r>
                            <a:rPr lang="en-US" sz="600" dirty="0"/>
                            <a:t> de la 0.08 la 0.01 </a:t>
                          </a:r>
                          <a:r>
                            <a:rPr lang="en-US" sz="600" dirty="0" err="1"/>
                            <a:t>prin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extinderea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căldurii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în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periurban</a:t>
                          </a:r>
                          <a:r>
                            <a:rPr lang="en-US" sz="600" dirty="0"/>
                            <a:t>; </a:t>
                          </a:r>
                          <a:r>
                            <a:rPr lang="en-US" sz="600" dirty="0" err="1"/>
                            <a:t>corelație</a:t>
                          </a:r>
                          <a:r>
                            <a:rPr lang="en-US" sz="600" dirty="0"/>
                            <a:t> LST-NDVI </a:t>
                          </a:r>
                          <a:r>
                            <a:rPr lang="en-US" sz="600" dirty="0" err="1"/>
                            <a:t>puternic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negativă</a:t>
                          </a:r>
                          <a:r>
                            <a:rPr lang="en-US" sz="600" dirty="0"/>
                            <a:t> pe </a:t>
                          </a:r>
                          <a:r>
                            <a:rPr lang="en-US" sz="600" dirty="0" err="1"/>
                            <a:t>păduri</a:t>
                          </a:r>
                          <a:r>
                            <a:rPr lang="en-US" sz="600" dirty="0"/>
                            <a:t> (</a:t>
                          </a:r>
                          <a14:m>
                            <m:oMath xmlns:m="http://schemas.openxmlformats.org/officeDocument/2006/math">
                              <m:r>
                                <a:rPr lang="en-US" sz="600" i="1" kern="120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𝑟</m:t>
                              </m:r>
                              <m:r>
                                <a:rPr lang="en-US" sz="600" i="0" kern="120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≈−0.74</m:t>
                              </m:r>
                            </m:oMath>
                          </a14:m>
                          <a:r>
                            <a:rPr lang="en-US" sz="600" dirty="0"/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68313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600" i="1" dirty="0"/>
                            <a:t>The Bucharest Urban Heat Island</a:t>
                          </a:r>
                          <a:r>
                            <a:rPr lang="en-US" sz="600" dirty="0"/>
                            <a:t>, </a:t>
                          </a:r>
                          <a:r>
                            <a:rPr lang="en-US" sz="600" i="1" dirty="0"/>
                            <a:t>Theoretical and Applied Climatology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/>
                            <a:t>MODIS Terra/Aqua LST (1 km), </a:t>
                          </a:r>
                          <a:r>
                            <a:rPr lang="en-US" sz="600" dirty="0" err="1"/>
                            <a:t>stații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meteorologice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terestre</a:t>
                          </a:r>
                          <a:r>
                            <a:rPr lang="en-US" sz="600" dirty="0"/>
                            <a:t> ANM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Analiză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spațială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multianuală</a:t>
                          </a:r>
                          <a:r>
                            <a:rPr lang="en-US" sz="600" dirty="0"/>
                            <a:t> zi/</a:t>
                          </a:r>
                          <a:r>
                            <a:rPr lang="en-US" sz="600" dirty="0" err="1"/>
                            <a:t>noapte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și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profiluri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termice</a:t>
                          </a:r>
                          <a:r>
                            <a:rPr lang="en-US" sz="600" dirty="0"/>
                            <a:t> radial-</a:t>
                          </a:r>
                          <a:r>
                            <a:rPr lang="en-US" sz="600" dirty="0" err="1"/>
                            <a:t>concentrice</a:t>
                          </a:r>
                          <a:r>
                            <a:rPr lang="en-US" sz="600" dirty="0"/>
                            <a:t> (</a:t>
                          </a:r>
                          <a:r>
                            <a:rPr lang="en-US" sz="600" dirty="0" err="1"/>
                            <a:t>nucleu</a:t>
                          </a:r>
                          <a:r>
                            <a:rPr lang="en-US" sz="600" dirty="0"/>
                            <a:t> urban vs. </a:t>
                          </a:r>
                          <a:r>
                            <a:rPr lang="en-US" sz="600" dirty="0" err="1"/>
                            <a:t>periferie</a:t>
                          </a:r>
                          <a:r>
                            <a:rPr lang="en-US" sz="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Magnitudinea</a:t>
                          </a:r>
                          <a:r>
                            <a:rPr lang="en-US" sz="600" dirty="0"/>
                            <a:t> UHI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600" kern="120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6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6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sz="600" i="0" kern="1200">
                                      <a:solidFill>
                                        <a:schemeClr val="dk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urban−rural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în</a:t>
                          </a:r>
                          <a:r>
                            <a:rPr lang="en-US" sz="600" dirty="0"/>
                            <a:t> °C), </a:t>
                          </a:r>
                          <a:r>
                            <a:rPr lang="en-US" sz="600" dirty="0" err="1"/>
                            <a:t>frecvența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anomaliilor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termice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Nucleul</a:t>
                          </a:r>
                          <a:r>
                            <a:rPr lang="en-US" sz="600" dirty="0"/>
                            <a:t> central al </a:t>
                          </a:r>
                          <a:r>
                            <a:rPr lang="en-US" sz="600" dirty="0" err="1"/>
                            <a:t>Bucureștiului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depășește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periferia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rurală</a:t>
                          </a:r>
                          <a:r>
                            <a:rPr lang="en-US" sz="600" dirty="0"/>
                            <a:t> cu </a:t>
                          </a:r>
                          <a:r>
                            <a:rPr lang="en-US" sz="600" dirty="0" err="1"/>
                            <a:t>până</a:t>
                          </a:r>
                          <a:r>
                            <a:rPr lang="en-US" sz="600" dirty="0"/>
                            <a:t> la 5–6°C </a:t>
                          </a:r>
                          <a:r>
                            <a:rPr lang="en-US" sz="600" dirty="0" err="1"/>
                            <a:t>în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nopțile</a:t>
                          </a:r>
                          <a:r>
                            <a:rPr lang="en-US" sz="600" dirty="0"/>
                            <a:t> de </a:t>
                          </a:r>
                          <a:r>
                            <a:rPr lang="en-US" sz="600" dirty="0" err="1"/>
                            <a:t>vară</a:t>
                          </a:r>
                          <a:r>
                            <a:rPr lang="en-US" sz="600" dirty="0"/>
                            <a:t>; </a:t>
                          </a:r>
                          <a:r>
                            <a:rPr lang="en-US" sz="600" dirty="0" err="1"/>
                            <a:t>diferența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diurnă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este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puternic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influențată</a:t>
                          </a:r>
                          <a:r>
                            <a:rPr lang="en-US" sz="600" dirty="0"/>
                            <a:t> de </a:t>
                          </a:r>
                          <a:r>
                            <a:rPr lang="en-US" sz="600" dirty="0" err="1"/>
                            <a:t>solul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neirigat</a:t>
                          </a:r>
                          <a:r>
                            <a:rPr lang="en-US" sz="600" dirty="0"/>
                            <a:t> din </a:t>
                          </a:r>
                          <a:r>
                            <a:rPr lang="en-US" sz="600" dirty="0" err="1"/>
                            <a:t>jur</a:t>
                          </a:r>
                          <a:r>
                            <a:rPr lang="en-US" sz="600" dirty="0"/>
                            <a:t>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2541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600" i="1" dirty="0"/>
                            <a:t>The role of urban trees in reducing land surface temperatures</a:t>
                          </a:r>
                          <a:r>
                            <a:rPr lang="en-US" sz="600" dirty="0"/>
                            <a:t>, </a:t>
                          </a:r>
                          <a:r>
                            <a:rPr lang="en-US" sz="600" i="1" dirty="0"/>
                            <a:t>Nature Communications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/>
                            <a:t>Landsat 8 LST, Sentinel-2 MSI, </a:t>
                          </a:r>
                          <a:r>
                            <a:rPr lang="en-US" sz="600" dirty="0" err="1"/>
                            <a:t>copertură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arbori</a:t>
                          </a:r>
                          <a:r>
                            <a:rPr lang="en-US" sz="600" dirty="0"/>
                            <a:t> Copernicus la </a:t>
                          </a:r>
                          <a:r>
                            <a:rPr lang="en-US" sz="600" dirty="0" err="1"/>
                            <a:t>nivel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european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Analiză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statistică</a:t>
                          </a:r>
                          <a:r>
                            <a:rPr lang="en-US" sz="600" dirty="0"/>
                            <a:t> pe </a:t>
                          </a:r>
                          <a:r>
                            <a:rPr lang="en-US" sz="600" dirty="0" err="1"/>
                            <a:t>perechi</a:t>
                          </a:r>
                          <a:r>
                            <a:rPr lang="en-US" sz="600" dirty="0"/>
                            <a:t> de </a:t>
                          </a:r>
                          <a:r>
                            <a:rPr lang="en-US" sz="600" dirty="0" err="1"/>
                            <a:t>celule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omogene</a:t>
                          </a:r>
                          <a:r>
                            <a:rPr lang="en-US" sz="600" dirty="0"/>
                            <a:t> (matched-pair spatial comparison)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Diferență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termică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netă</a:t>
                          </a:r>
                          <a:r>
                            <a:rPr lang="en-US" sz="600" dirty="0"/>
                            <a:t>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600" kern="120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6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6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sz="600" i="0" kern="1200">
                                      <a:solidFill>
                                        <a:schemeClr val="dk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arbori − sol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în</a:t>
                          </a:r>
                          <a:r>
                            <a:rPr lang="en-US" sz="600" dirty="0"/>
                            <a:t> °C), intervale de </a:t>
                          </a:r>
                          <a:r>
                            <a:rPr lang="en-US" sz="600" dirty="0" err="1"/>
                            <a:t>încredere</a:t>
                          </a:r>
                          <a:r>
                            <a:rPr lang="en-US" sz="600" dirty="0"/>
                            <a:t> 95%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Arborii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urbani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maturi</a:t>
                          </a:r>
                          <a:r>
                            <a:rPr lang="en-US" sz="600" dirty="0"/>
                            <a:t> scad </a:t>
                          </a:r>
                          <a:r>
                            <a:rPr lang="en-US" sz="600" dirty="0" err="1"/>
                            <a:t>temperatura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suprafeței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solului</a:t>
                          </a:r>
                          <a:r>
                            <a:rPr lang="en-US" sz="600" dirty="0"/>
                            <a:t> cu </a:t>
                          </a:r>
                          <a:r>
                            <a:rPr lang="en-US" sz="600" dirty="0" err="1"/>
                            <a:t>până</a:t>
                          </a:r>
                          <a:r>
                            <a:rPr lang="en-US" sz="600" dirty="0"/>
                            <a:t> la 8–12°C </a:t>
                          </a:r>
                          <a:r>
                            <a:rPr lang="en-US" sz="600" dirty="0" err="1"/>
                            <a:t>în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regiunile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calde</a:t>
                          </a:r>
                          <a:r>
                            <a:rPr lang="en-US" sz="600" dirty="0"/>
                            <a:t> ale </a:t>
                          </a:r>
                          <a:r>
                            <a:rPr lang="en-US" sz="600" dirty="0" err="1"/>
                            <a:t>Europei</a:t>
                          </a:r>
                          <a:r>
                            <a:rPr lang="en-US" sz="600" dirty="0"/>
                            <a:t>; </a:t>
                          </a:r>
                          <a:r>
                            <a:rPr lang="en-US" sz="600" dirty="0" err="1"/>
                            <a:t>copacii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oferă</a:t>
                          </a:r>
                          <a:r>
                            <a:rPr lang="en-US" sz="600" dirty="0"/>
                            <a:t> o </a:t>
                          </a:r>
                          <a:r>
                            <a:rPr lang="en-US" sz="600" dirty="0" err="1"/>
                            <a:t>răcire</a:t>
                          </a:r>
                          <a:r>
                            <a:rPr lang="en-US" sz="600" dirty="0"/>
                            <a:t> de 2–4 </a:t>
                          </a:r>
                          <a:r>
                            <a:rPr lang="en-US" sz="600" dirty="0" err="1"/>
                            <a:t>ori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mai</a:t>
                          </a:r>
                          <a:r>
                            <a:rPr lang="en-US" sz="600" dirty="0"/>
                            <a:t> mare </a:t>
                          </a:r>
                          <a:r>
                            <a:rPr lang="en-US" sz="600" dirty="0" err="1"/>
                            <a:t>decât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gazonul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sau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suprafețele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ierboase</a:t>
                          </a:r>
                          <a:r>
                            <a:rPr lang="en-US" sz="600" dirty="0"/>
                            <a:t>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994184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E754D91-8886-1DD4-8F2F-6480833194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1406614"/>
                  </p:ext>
                </p:extLst>
              </p:nvPr>
            </p:nvGraphicFramePr>
            <p:xfrm>
              <a:off x="419526" y="1273485"/>
              <a:ext cx="5428225" cy="29311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85645">
                      <a:extLst>
                        <a:ext uri="{9D8B030D-6E8A-4147-A177-3AD203B41FA5}">
                          <a16:colId xmlns:a16="http://schemas.microsoft.com/office/drawing/2014/main" val="635176134"/>
                        </a:ext>
                      </a:extLst>
                    </a:gridCol>
                    <a:gridCol w="1087584">
                      <a:extLst>
                        <a:ext uri="{9D8B030D-6E8A-4147-A177-3AD203B41FA5}">
                          <a16:colId xmlns:a16="http://schemas.microsoft.com/office/drawing/2014/main" val="3904922405"/>
                        </a:ext>
                      </a:extLst>
                    </a:gridCol>
                    <a:gridCol w="1083706">
                      <a:extLst>
                        <a:ext uri="{9D8B030D-6E8A-4147-A177-3AD203B41FA5}">
                          <a16:colId xmlns:a16="http://schemas.microsoft.com/office/drawing/2014/main" val="174791874"/>
                        </a:ext>
                      </a:extLst>
                    </a:gridCol>
                    <a:gridCol w="1085645">
                      <a:extLst>
                        <a:ext uri="{9D8B030D-6E8A-4147-A177-3AD203B41FA5}">
                          <a16:colId xmlns:a16="http://schemas.microsoft.com/office/drawing/2014/main" val="2429242358"/>
                        </a:ext>
                      </a:extLst>
                    </a:gridCol>
                    <a:gridCol w="1085645">
                      <a:extLst>
                        <a:ext uri="{9D8B030D-6E8A-4147-A177-3AD203B41FA5}">
                          <a16:colId xmlns:a16="http://schemas.microsoft.com/office/drawing/2014/main" val="96289238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Titlu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Surse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Metoda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exploratorie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Metrica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Rezultat</a:t>
                          </a:r>
                          <a:endParaRPr lang="en-US" sz="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3361524"/>
                      </a:ext>
                    </a:extLst>
                  </a:tr>
                  <a:tr h="109728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6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Land Use/Land Cover changes dynamics and their effects on Surface Urban Heat Island in Bucharest, Romania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/>
                            <a:t>Landsat 5 TM, 7 ETM+, 8 OLI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Clasificare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supervizată</a:t>
                          </a:r>
                          <a:r>
                            <a:rPr lang="en-US" sz="600" dirty="0"/>
                            <a:t> (Maximum Likelihood), </a:t>
                          </a:r>
                          <a:r>
                            <a:rPr lang="en-US" sz="600" dirty="0" err="1"/>
                            <a:t>detecție</a:t>
                          </a:r>
                          <a:r>
                            <a:rPr lang="en-US" sz="600" dirty="0"/>
                            <a:t> post-</a:t>
                          </a:r>
                          <a:r>
                            <a:rPr lang="en-US" sz="600" dirty="0" err="1"/>
                            <a:t>clasificare</a:t>
                          </a:r>
                          <a:r>
                            <a:rPr lang="en-US" sz="600" dirty="0"/>
                            <a:t> a </a:t>
                          </a:r>
                          <a:r>
                            <a:rPr lang="en-US" sz="600" dirty="0" err="1"/>
                            <a:t>schimbărilor</a:t>
                          </a:r>
                          <a:r>
                            <a:rPr lang="en-US" sz="600" dirty="0"/>
                            <a:t> LULC, </a:t>
                          </a:r>
                          <a:r>
                            <a:rPr lang="en-US" sz="600" dirty="0" err="1"/>
                            <a:t>calcul</a:t>
                          </a:r>
                          <a:r>
                            <a:rPr lang="en-US" sz="600" dirty="0"/>
                            <a:t> LST/NDVI </a:t>
                          </a:r>
                          <a:r>
                            <a:rPr lang="en-US" sz="600" dirty="0" err="1"/>
                            <a:t>și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corelație</a:t>
                          </a:r>
                          <a:r>
                            <a:rPr lang="en-US" sz="600" dirty="0"/>
                            <a:t> Pearson pixel-cu-pixel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99441" t="-34444" r="-101676" b="-13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1685" t="-34444" r="-2247" b="-13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6831353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600" i="1" dirty="0"/>
                            <a:t>The Bucharest Urban Heat Island</a:t>
                          </a:r>
                          <a:r>
                            <a:rPr lang="en-US" sz="600" dirty="0"/>
                            <a:t>, </a:t>
                          </a:r>
                          <a:r>
                            <a:rPr lang="en-US" sz="600" i="1" dirty="0"/>
                            <a:t>Theoretical and Applied Climatology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/>
                            <a:t>MODIS Terra/Aqua LST (1 km), </a:t>
                          </a:r>
                          <a:r>
                            <a:rPr lang="en-US" sz="600" dirty="0" err="1"/>
                            <a:t>stații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meteorologice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terestre</a:t>
                          </a:r>
                          <a:r>
                            <a:rPr lang="en-US" sz="600" dirty="0"/>
                            <a:t> ANM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Analiză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spațială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multianuală</a:t>
                          </a:r>
                          <a:r>
                            <a:rPr lang="en-US" sz="600" dirty="0"/>
                            <a:t> zi/</a:t>
                          </a:r>
                          <a:r>
                            <a:rPr lang="en-US" sz="600" dirty="0" err="1"/>
                            <a:t>noapte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și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profiluri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termice</a:t>
                          </a:r>
                          <a:r>
                            <a:rPr lang="en-US" sz="600" dirty="0"/>
                            <a:t> radial-</a:t>
                          </a:r>
                          <a:r>
                            <a:rPr lang="en-US" sz="600" dirty="0" err="1"/>
                            <a:t>concentrice</a:t>
                          </a:r>
                          <a:r>
                            <a:rPr lang="en-US" sz="600" dirty="0"/>
                            <a:t> (</a:t>
                          </a:r>
                          <a:r>
                            <a:rPr lang="en-US" sz="600" dirty="0" err="1"/>
                            <a:t>nucleu</a:t>
                          </a:r>
                          <a:r>
                            <a:rPr lang="en-US" sz="600" dirty="0"/>
                            <a:t> urban vs. </a:t>
                          </a:r>
                          <a:r>
                            <a:rPr lang="en-US" sz="600" dirty="0" err="1"/>
                            <a:t>periferie</a:t>
                          </a:r>
                          <a:r>
                            <a:rPr lang="en-US" sz="6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99441" t="-200000" r="-101676" b="-100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Nucleul</a:t>
                          </a:r>
                          <a:r>
                            <a:rPr lang="en-US" sz="600" dirty="0"/>
                            <a:t> central al </a:t>
                          </a:r>
                          <a:r>
                            <a:rPr lang="en-US" sz="600" dirty="0" err="1"/>
                            <a:t>Bucureștiului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depășește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periferia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rurală</a:t>
                          </a:r>
                          <a:r>
                            <a:rPr lang="en-US" sz="600" dirty="0"/>
                            <a:t> cu </a:t>
                          </a:r>
                          <a:r>
                            <a:rPr lang="en-US" sz="600" dirty="0" err="1"/>
                            <a:t>până</a:t>
                          </a:r>
                          <a:r>
                            <a:rPr lang="en-US" sz="600" dirty="0"/>
                            <a:t> la 5–6°C </a:t>
                          </a:r>
                          <a:r>
                            <a:rPr lang="en-US" sz="600" dirty="0" err="1"/>
                            <a:t>în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nopțile</a:t>
                          </a:r>
                          <a:r>
                            <a:rPr lang="en-US" sz="600" dirty="0"/>
                            <a:t> de </a:t>
                          </a:r>
                          <a:r>
                            <a:rPr lang="en-US" sz="600" dirty="0" err="1"/>
                            <a:t>vară</a:t>
                          </a:r>
                          <a:r>
                            <a:rPr lang="en-US" sz="600" dirty="0"/>
                            <a:t>; </a:t>
                          </a:r>
                          <a:r>
                            <a:rPr lang="en-US" sz="600" dirty="0" err="1"/>
                            <a:t>diferența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diurnă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este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puternic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influențată</a:t>
                          </a:r>
                          <a:r>
                            <a:rPr lang="en-US" sz="600" dirty="0"/>
                            <a:t> de </a:t>
                          </a:r>
                          <a:r>
                            <a:rPr lang="en-US" sz="600" dirty="0" err="1"/>
                            <a:t>solul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neirigat</a:t>
                          </a:r>
                          <a:r>
                            <a:rPr lang="en-US" sz="600" dirty="0"/>
                            <a:t> din </a:t>
                          </a:r>
                          <a:r>
                            <a:rPr lang="en-US" sz="600" dirty="0" err="1"/>
                            <a:t>jur</a:t>
                          </a:r>
                          <a:r>
                            <a:rPr lang="en-US" sz="600" dirty="0"/>
                            <a:t>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254171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sz="600" i="1" dirty="0"/>
                            <a:t>The role of urban trees in reducing land surface temperatures</a:t>
                          </a:r>
                          <a:r>
                            <a:rPr lang="en-US" sz="600" dirty="0"/>
                            <a:t>, </a:t>
                          </a:r>
                          <a:r>
                            <a:rPr lang="en-US" sz="600" i="1" dirty="0"/>
                            <a:t>Nature Communications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/>
                            <a:t>Landsat 8 LST, Sentinel-2 MSI, </a:t>
                          </a:r>
                          <a:r>
                            <a:rPr lang="en-US" sz="600" dirty="0" err="1"/>
                            <a:t>copertură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arbori</a:t>
                          </a:r>
                          <a:r>
                            <a:rPr lang="en-US" sz="600" dirty="0"/>
                            <a:t> Copernicus la </a:t>
                          </a:r>
                          <a:r>
                            <a:rPr lang="en-US" sz="600" dirty="0" err="1"/>
                            <a:t>nivel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european</a:t>
                          </a:r>
                          <a:endParaRPr lang="en-US" sz="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Analiză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statistică</a:t>
                          </a:r>
                          <a:r>
                            <a:rPr lang="en-US" sz="600" dirty="0"/>
                            <a:t> pe </a:t>
                          </a:r>
                          <a:r>
                            <a:rPr lang="en-US" sz="600" dirty="0" err="1"/>
                            <a:t>perechi</a:t>
                          </a:r>
                          <a:r>
                            <a:rPr lang="en-US" sz="600" dirty="0"/>
                            <a:t> de </a:t>
                          </a:r>
                          <a:r>
                            <a:rPr lang="en-US" sz="600" dirty="0" err="1"/>
                            <a:t>celule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omogene</a:t>
                          </a:r>
                          <a:r>
                            <a:rPr lang="en-US" sz="600" dirty="0"/>
                            <a:t> (matched-pair spatial comparison)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99441" t="-302500" r="-101676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600" dirty="0" err="1"/>
                            <a:t>Arborii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urbani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maturi</a:t>
                          </a:r>
                          <a:r>
                            <a:rPr lang="en-US" sz="600" dirty="0"/>
                            <a:t> scad </a:t>
                          </a:r>
                          <a:r>
                            <a:rPr lang="en-US" sz="600" dirty="0" err="1"/>
                            <a:t>temperatura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suprafeței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solului</a:t>
                          </a:r>
                          <a:r>
                            <a:rPr lang="en-US" sz="600" dirty="0"/>
                            <a:t> cu </a:t>
                          </a:r>
                          <a:r>
                            <a:rPr lang="en-US" sz="600" dirty="0" err="1"/>
                            <a:t>până</a:t>
                          </a:r>
                          <a:r>
                            <a:rPr lang="en-US" sz="600" dirty="0"/>
                            <a:t> la 8–12°C </a:t>
                          </a:r>
                          <a:r>
                            <a:rPr lang="en-US" sz="600" dirty="0" err="1"/>
                            <a:t>în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regiunile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calde</a:t>
                          </a:r>
                          <a:r>
                            <a:rPr lang="en-US" sz="600" dirty="0"/>
                            <a:t> ale </a:t>
                          </a:r>
                          <a:r>
                            <a:rPr lang="en-US" sz="600" dirty="0" err="1"/>
                            <a:t>Europei</a:t>
                          </a:r>
                          <a:r>
                            <a:rPr lang="en-US" sz="600" dirty="0"/>
                            <a:t>; </a:t>
                          </a:r>
                          <a:r>
                            <a:rPr lang="en-US" sz="600" dirty="0" err="1"/>
                            <a:t>copacii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oferă</a:t>
                          </a:r>
                          <a:r>
                            <a:rPr lang="en-US" sz="600" dirty="0"/>
                            <a:t> o </a:t>
                          </a:r>
                          <a:r>
                            <a:rPr lang="en-US" sz="600" dirty="0" err="1"/>
                            <a:t>răcire</a:t>
                          </a:r>
                          <a:r>
                            <a:rPr lang="en-US" sz="600" dirty="0"/>
                            <a:t> de 2–4 </a:t>
                          </a:r>
                          <a:r>
                            <a:rPr lang="en-US" sz="600" dirty="0" err="1"/>
                            <a:t>ori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mai</a:t>
                          </a:r>
                          <a:r>
                            <a:rPr lang="en-US" sz="600" dirty="0"/>
                            <a:t> mare </a:t>
                          </a:r>
                          <a:r>
                            <a:rPr lang="en-US" sz="600" dirty="0" err="1"/>
                            <a:t>decât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gazonul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sau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suprafețele</a:t>
                          </a:r>
                          <a:r>
                            <a:rPr lang="en-US" sz="600" dirty="0"/>
                            <a:t> </a:t>
                          </a:r>
                          <a:r>
                            <a:rPr lang="en-US" sz="600" dirty="0" err="1"/>
                            <a:t>ierboase</a:t>
                          </a:r>
                          <a:r>
                            <a:rPr lang="en-US" sz="600" dirty="0"/>
                            <a:t>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9941848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702A"/>
                </a:solidFill>
              </a:rPr>
              <a:t>BLOCAJE ȘI URMĂTOARELE DOUĂ SĂPTĂMÂNI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Blocaje și următorii pași la CP2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B2A41"/>
                </a:solidFill>
              </a:rPr>
              <a:t>Blocaje</a:t>
            </a:r>
            <a:endParaRPr lang="en-US" sz="1100" dirty="0"/>
          </a:p>
          <a:p>
            <a:pPr marL="228600" indent="-228600">
              <a:spcAft>
                <a:spcPts val="600"/>
              </a:spcAft>
              <a:buAutoNum type="arabicPeriod"/>
            </a:pPr>
            <a:r>
              <a:rPr lang="en-US" sz="1050" dirty="0" err="1">
                <a:solidFill>
                  <a:srgbClr val="6B7684"/>
                </a:solidFill>
              </a:rPr>
              <a:t>Accesarea</a:t>
            </a:r>
            <a:r>
              <a:rPr lang="en-US" sz="1050" dirty="0">
                <a:solidFill>
                  <a:srgbClr val="6B7684"/>
                </a:solidFill>
              </a:rPr>
              <a:t> </a:t>
            </a:r>
            <a:r>
              <a:rPr lang="en-US" sz="1050" dirty="0" err="1">
                <a:solidFill>
                  <a:srgbClr val="6B7684"/>
                </a:solidFill>
              </a:rPr>
              <a:t>datelor</a:t>
            </a:r>
            <a:r>
              <a:rPr lang="en-US" sz="1050" dirty="0">
                <a:solidFill>
                  <a:srgbClr val="6B7684"/>
                </a:solidFill>
              </a:rPr>
              <a:t> din </a:t>
            </a:r>
            <a:r>
              <a:rPr lang="en-US" sz="1100" dirty="0">
                <a:solidFill>
                  <a:schemeClr val="accent3"/>
                </a:solidFill>
              </a:rPr>
              <a:t>OpenStreetMap (OSM) </a:t>
            </a:r>
            <a:r>
              <a:rPr lang="en-US" sz="1100" dirty="0" err="1">
                <a:solidFill>
                  <a:schemeClr val="accent3"/>
                </a:solidFill>
              </a:rPr>
              <a:t>si</a:t>
            </a:r>
            <a:r>
              <a:rPr lang="en-US" sz="1100" dirty="0">
                <a:solidFill>
                  <a:schemeClr val="accent3"/>
                </a:solidFill>
              </a:rPr>
              <a:t> 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663440" y="1554480"/>
            <a:ext cx="3931920" cy="246888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lstStyle/>
          <a:p>
            <a:endParaRPr lang="en-RO"/>
          </a:p>
        </p:txBody>
      </p:sp>
      <p:sp>
        <p:nvSpPr>
          <p:cNvPr id="6" name="Text 4"/>
          <p:cNvSpPr txBox="1"/>
          <p:nvPr/>
        </p:nvSpPr>
        <p:spPr>
          <a:xfrm>
            <a:off x="4846320" y="169164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8702A"/>
                </a:solidFill>
              </a:rPr>
              <a:t>Planul pe 2 săptămâni</a:t>
            </a:r>
            <a:endParaRPr lang="en-US" sz="1100" dirty="0"/>
          </a:p>
          <a:p>
            <a:pPr>
              <a:spcAft>
                <a:spcPts val="500"/>
              </a:spcAft>
            </a:pPr>
            <a:r>
              <a:rPr lang="en-US" sz="1050" dirty="0" err="1">
                <a:solidFill>
                  <a:schemeClr val="accent3"/>
                </a:solidFill>
              </a:rPr>
              <a:t>Săptămâna</a:t>
            </a:r>
            <a:r>
              <a:rPr lang="en-US" sz="1050" dirty="0">
                <a:solidFill>
                  <a:schemeClr val="accent3"/>
                </a:solidFill>
              </a:rPr>
              <a:t> [6]: </a:t>
            </a:r>
            <a:r>
              <a:rPr lang="en-US" sz="1050" dirty="0" err="1">
                <a:solidFill>
                  <a:schemeClr val="accent3"/>
                </a:solidFill>
              </a:rPr>
              <a:t>Matricea</a:t>
            </a:r>
            <a:r>
              <a:rPr lang="en-US" sz="1050" dirty="0">
                <a:solidFill>
                  <a:schemeClr val="accent3"/>
                </a:solidFill>
              </a:rPr>
              <a:t> X </a:t>
            </a:r>
            <a:r>
              <a:rPr lang="en-US" sz="1050" dirty="0" err="1">
                <a:solidFill>
                  <a:schemeClr val="accent3"/>
                </a:solidFill>
              </a:rPr>
              <a:t>documentată</a:t>
            </a:r>
            <a:r>
              <a:rPr lang="en-US" sz="1050" dirty="0">
                <a:solidFill>
                  <a:schemeClr val="accent3"/>
                </a:solidFill>
              </a:rPr>
              <a:t> (n × d, cu </a:t>
            </a:r>
            <a:r>
              <a:rPr lang="en-US" sz="1050" dirty="0" err="1">
                <a:solidFill>
                  <a:schemeClr val="accent3"/>
                </a:solidFill>
              </a:rPr>
              <a:t>proveniența</a:t>
            </a:r>
            <a:r>
              <a:rPr lang="en-US" sz="1050" dirty="0">
                <a:solidFill>
                  <a:schemeClr val="accent3"/>
                </a:solidFill>
              </a:rPr>
              <a:t> </a:t>
            </a:r>
            <a:r>
              <a:rPr lang="en-US" sz="1050" dirty="0" err="1">
                <a:solidFill>
                  <a:schemeClr val="accent3"/>
                </a:solidFill>
              </a:rPr>
              <a:t>fiecărei</a:t>
            </a:r>
            <a:r>
              <a:rPr lang="en-US" sz="1050" dirty="0">
                <a:solidFill>
                  <a:schemeClr val="accent3"/>
                </a:solidFill>
              </a:rPr>
              <a:t> </a:t>
            </a:r>
            <a:r>
              <a:rPr lang="en-US" sz="1050" dirty="0" err="1">
                <a:solidFill>
                  <a:schemeClr val="accent3"/>
                </a:solidFill>
              </a:rPr>
              <a:t>trăsături</a:t>
            </a:r>
            <a:r>
              <a:rPr lang="en-US" sz="1050" dirty="0">
                <a:solidFill>
                  <a:schemeClr val="accent3"/>
                </a:solidFill>
              </a:rPr>
              <a:t>) + </a:t>
            </a:r>
            <a:r>
              <a:rPr lang="en-US" sz="1050" dirty="0" err="1">
                <a:solidFill>
                  <a:schemeClr val="accent3"/>
                </a:solidFill>
              </a:rPr>
              <a:t>analiza</a:t>
            </a:r>
            <a:r>
              <a:rPr lang="en-US" sz="1050" dirty="0">
                <a:solidFill>
                  <a:schemeClr val="accent3"/>
                </a:solidFill>
              </a:rPr>
              <a:t> </a:t>
            </a:r>
            <a:r>
              <a:rPr lang="en-US" sz="1050" dirty="0" err="1">
                <a:solidFill>
                  <a:schemeClr val="accent3"/>
                </a:solidFill>
              </a:rPr>
              <a:t>univariată</a:t>
            </a:r>
            <a:r>
              <a:rPr lang="en-US" sz="1050" dirty="0">
                <a:solidFill>
                  <a:schemeClr val="accent3"/>
                </a:solidFill>
              </a:rPr>
              <a:t>/</a:t>
            </a:r>
            <a:r>
              <a:rPr lang="en-US" sz="1050" dirty="0" err="1">
                <a:solidFill>
                  <a:schemeClr val="accent3"/>
                </a:solidFill>
              </a:rPr>
              <a:t>biv</a:t>
            </a:r>
            <a:r>
              <a:rPr lang="en-US" sz="1050" dirty="0">
                <a:solidFill>
                  <a:schemeClr val="accent3"/>
                </a:solidFill>
              </a:rPr>
              <a:t> </a:t>
            </a:r>
            <a:r>
              <a:rPr lang="en-US" sz="1050" dirty="0" err="1">
                <a:solidFill>
                  <a:schemeClr val="accent3"/>
                </a:solidFill>
              </a:rPr>
              <a:t>ariată</a:t>
            </a:r>
            <a:r>
              <a:rPr lang="en-US" sz="1050" dirty="0">
                <a:solidFill>
                  <a:schemeClr val="accent3"/>
                </a:solidFill>
              </a:rPr>
              <a:t> + prima </a:t>
            </a:r>
            <a:r>
              <a:rPr lang="en-US" sz="1050" dirty="0" err="1">
                <a:solidFill>
                  <a:schemeClr val="accent3"/>
                </a:solidFill>
              </a:rPr>
              <a:t>proiecție</a:t>
            </a:r>
            <a:r>
              <a:rPr lang="en-US" sz="1050" dirty="0">
                <a:solidFill>
                  <a:schemeClr val="accent3"/>
                </a:solidFill>
              </a:rPr>
              <a:t> PCA (scree, loadings) </a:t>
            </a:r>
            <a:endParaRPr lang="en-US" sz="1000" dirty="0">
              <a:solidFill>
                <a:schemeClr val="accent3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84"/>
                </a:solidFill>
              </a:rPr>
              <a:t>Slide 3 din 3 · Întrebarea pentru profesor / grup, dacă există: [__]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E GeoSense">
  <a:themeElements>
    <a:clrScheme name="MEDE GeoSense">
      <a:dk1>
        <a:srgbClr val="1B2A41"/>
      </a:dk1>
      <a:lt1>
        <a:srgbClr val="F4F0E8"/>
      </a:lt1>
      <a:dk2>
        <a:srgbClr val="4A5563"/>
      </a:dk2>
      <a:lt2>
        <a:srgbClr val="E9E3D6"/>
      </a:lt2>
      <a:accent1>
        <a:srgbClr val="C8702A"/>
      </a:accent1>
      <a:accent2>
        <a:srgbClr val="1B2A41"/>
      </a:accent2>
      <a:accent3>
        <a:srgbClr val="8A96A3"/>
      </a:accent3>
      <a:accent4>
        <a:srgbClr val="D9D2C3"/>
      </a:accent4>
      <a:accent5>
        <a:srgbClr val="F4F0E8"/>
      </a:accent5>
      <a:accent6>
        <a:srgbClr val="E9E3D6"/>
      </a:accent6>
      <a:hlink>
        <a:srgbClr val="C8702A"/>
      </a:hlink>
      <a:folHlink>
        <a:srgbClr val="8A96A3"/>
      </a:folHlink>
    </a:clrScheme>
    <a:fontScheme name="MEDE GeoSen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685</Words>
  <Application>Microsoft Office PowerPoint</Application>
  <PresentationFormat>On-screen Show (16:9)</PresentationFormat>
  <Paragraphs>55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Cambria</vt:lpstr>
      <vt:lpstr>Cambria Math</vt:lpstr>
      <vt:lpstr>MEDE GeoSense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MEDE — Șablon checkpoint</dc:title>
  <dc:subject>PptxGenJS Presentation</dc:subject>
  <dc:creator>GeoSense Lab, ETTI–UNSTPB</dc:creator>
  <cp:lastModifiedBy>Răducu-Ștefan STANCIU (126851)</cp:lastModifiedBy>
  <cp:revision>9</cp:revision>
  <dcterms:created xsi:type="dcterms:W3CDTF">2026-10-07T14:41:20Z</dcterms:created>
  <dcterms:modified xsi:type="dcterms:W3CDTF">2026-10-20T17:53:58Z</dcterms:modified>
</cp:coreProperties>
</file>